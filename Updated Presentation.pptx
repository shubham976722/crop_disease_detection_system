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sldIdLst>
    <p:sldId id="256" r:id="rId2"/>
    <p:sldId id="260" r:id="rId3"/>
    <p:sldId id="257" r:id="rId4"/>
    <p:sldId id="258" r:id="rId5"/>
    <p:sldId id="267" r:id="rId6"/>
    <p:sldId id="259" r:id="rId7"/>
    <p:sldId id="261" r:id="rId8"/>
    <p:sldId id="265" r:id="rId9"/>
    <p:sldId id="268" r:id="rId10"/>
    <p:sldId id="264" r:id="rId11"/>
    <p:sldId id="262" r:id="rId12"/>
    <p:sldId id="26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5970" autoAdjust="0"/>
  </p:normalViewPr>
  <p:slideViewPr>
    <p:cSldViewPr snapToGrid="0">
      <p:cViewPr varScale="1">
        <p:scale>
          <a:sx n="82" d="100"/>
          <a:sy n="82" d="100"/>
        </p:scale>
        <p:origin x="67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88D61F-C938-417B-8886-14882E6FF336}" type="datetimeFigureOut">
              <a:rPr lang="en-IN" smtClean="0"/>
              <a:t>07-04-2026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32EC32-54EB-491C-B042-BD93F6E38BA9}" type="slidenum">
              <a:rPr lang="en-IN" smtClean="0"/>
              <a:t>‹#›</a:t>
            </a:fld>
            <a:endParaRPr lang="en-IN"/>
          </a:p>
        </p:txBody>
      </p:sp>
    </p:spTree>
    <p:extLst>
      <p:ext uri="{BB962C8B-B14F-4D97-AF65-F5344CB8AC3E}">
        <p14:creationId xmlns:p14="http://schemas.microsoft.com/office/powerpoint/2010/main" val="575014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932EC32-54EB-491C-B042-BD93F6E38BA9}" type="slidenum">
              <a:rPr lang="en-IN" smtClean="0"/>
              <a:t>2</a:t>
            </a:fld>
            <a:endParaRPr lang="en-IN"/>
          </a:p>
        </p:txBody>
      </p:sp>
    </p:spTree>
    <p:extLst>
      <p:ext uri="{BB962C8B-B14F-4D97-AF65-F5344CB8AC3E}">
        <p14:creationId xmlns:p14="http://schemas.microsoft.com/office/powerpoint/2010/main" val="59458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932EC32-54EB-491C-B042-BD93F6E38BA9}" type="slidenum">
              <a:rPr lang="en-IN" smtClean="0"/>
              <a:t>3</a:t>
            </a:fld>
            <a:endParaRPr lang="en-IN"/>
          </a:p>
        </p:txBody>
      </p:sp>
    </p:spTree>
    <p:extLst>
      <p:ext uri="{BB962C8B-B14F-4D97-AF65-F5344CB8AC3E}">
        <p14:creationId xmlns:p14="http://schemas.microsoft.com/office/powerpoint/2010/main" val="934245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932EC32-54EB-491C-B042-BD93F6E38BA9}" type="slidenum">
              <a:rPr lang="en-IN" smtClean="0"/>
              <a:t>6</a:t>
            </a:fld>
            <a:endParaRPr lang="en-IN"/>
          </a:p>
        </p:txBody>
      </p:sp>
    </p:spTree>
    <p:extLst>
      <p:ext uri="{BB962C8B-B14F-4D97-AF65-F5344CB8AC3E}">
        <p14:creationId xmlns:p14="http://schemas.microsoft.com/office/powerpoint/2010/main" val="2709495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932EC32-54EB-491C-B042-BD93F6E38BA9}" type="slidenum">
              <a:rPr lang="en-IN" smtClean="0"/>
              <a:t>9</a:t>
            </a:fld>
            <a:endParaRPr lang="en-IN"/>
          </a:p>
        </p:txBody>
      </p:sp>
    </p:spTree>
    <p:extLst>
      <p:ext uri="{BB962C8B-B14F-4D97-AF65-F5344CB8AC3E}">
        <p14:creationId xmlns:p14="http://schemas.microsoft.com/office/powerpoint/2010/main" val="26071476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932EC32-54EB-491C-B042-BD93F6E38BA9}" type="slidenum">
              <a:rPr lang="en-IN" smtClean="0"/>
              <a:t>10</a:t>
            </a:fld>
            <a:endParaRPr lang="en-IN"/>
          </a:p>
        </p:txBody>
      </p:sp>
    </p:spTree>
    <p:extLst>
      <p:ext uri="{BB962C8B-B14F-4D97-AF65-F5344CB8AC3E}">
        <p14:creationId xmlns:p14="http://schemas.microsoft.com/office/powerpoint/2010/main" val="2772143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4/7/2026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IN"/>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4/7/2026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www.tensorflow.org/" TargetMode="External"/><Relationship Id="rId7" Type="http://schemas.openxmlformats.org/officeDocument/2006/relationships/hyperlink" Target="https://opencv.org/" TargetMode="External"/><Relationship Id="rId2" Type="http://schemas.openxmlformats.org/officeDocument/2006/relationships/hyperlink" Target="https://data.mendeley.com/datasets/tywbtsjrjv" TargetMode="External"/><Relationship Id="rId1" Type="http://schemas.openxmlformats.org/officeDocument/2006/relationships/slideLayout" Target="../slideLayouts/slideLayout6.xml"/><Relationship Id="rId6" Type="http://schemas.openxmlformats.org/officeDocument/2006/relationships/hyperlink" Target="https://numpy.org/" TargetMode="External"/><Relationship Id="rId5" Type="http://schemas.openxmlformats.org/officeDocument/2006/relationships/hyperlink" Target="https://flask.palletsprojects.com/" TargetMode="External"/><Relationship Id="rId4" Type="http://schemas.openxmlformats.org/officeDocument/2006/relationships/hyperlink" Target="https://keras.io/"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78723-BEC1-625B-ABAB-1CC454227C4A}"/>
              </a:ext>
            </a:extLst>
          </p:cNvPr>
          <p:cNvSpPr>
            <a:spLocks noGrp="1"/>
          </p:cNvSpPr>
          <p:nvPr>
            <p:ph type="ctrTitle"/>
          </p:nvPr>
        </p:nvSpPr>
        <p:spPr>
          <a:xfrm>
            <a:off x="1595968" y="2252134"/>
            <a:ext cx="8898466" cy="1621896"/>
          </a:xfrm>
        </p:spPr>
        <p:txBody>
          <a:bodyPr>
            <a:normAutofit fontScale="90000"/>
          </a:bodyPr>
          <a:lstStyle/>
          <a:p>
            <a:r>
              <a:rPr lang="en-IN" b="1" dirty="0">
                <a:latin typeface="Segoe UI" panose="020B0502040204020203" pitchFamily="34" charset="0"/>
                <a:cs typeface="Segoe UI" panose="020B0502040204020203" pitchFamily="34" charset="0"/>
              </a:rPr>
              <a:t>Project Title : ML-Based Crop     Health Detection Using CNN</a:t>
            </a:r>
          </a:p>
        </p:txBody>
      </p:sp>
      <p:sp>
        <p:nvSpPr>
          <p:cNvPr id="6" name="TextBox 5">
            <a:extLst>
              <a:ext uri="{FF2B5EF4-FFF2-40B4-BE49-F238E27FC236}">
                <a16:creationId xmlns:a16="http://schemas.microsoft.com/office/drawing/2014/main" id="{1256246B-12CD-2C97-8FE8-B1ED7FF4EA22}"/>
              </a:ext>
            </a:extLst>
          </p:cNvPr>
          <p:cNvSpPr txBox="1"/>
          <p:nvPr/>
        </p:nvSpPr>
        <p:spPr>
          <a:xfrm>
            <a:off x="4343401" y="4060297"/>
            <a:ext cx="4834466" cy="1938992"/>
          </a:xfrm>
          <a:prstGeom prst="rect">
            <a:avLst/>
          </a:prstGeom>
          <a:noFill/>
        </p:spPr>
        <p:txBody>
          <a:bodyPr wrap="square" rtlCol="0">
            <a:spAutoFit/>
          </a:bodyPr>
          <a:lstStyle/>
          <a:p>
            <a:r>
              <a:rPr lang="en-IN" sz="2400" b="1" dirty="0"/>
              <a:t>By</a:t>
            </a:r>
            <a:r>
              <a:rPr lang="en-IN" sz="2400" dirty="0"/>
              <a:t> : </a:t>
            </a:r>
            <a:br>
              <a:rPr lang="en-IN" sz="2400" dirty="0"/>
            </a:br>
            <a:r>
              <a:rPr lang="en-IN" sz="2400" dirty="0"/>
              <a:t>     </a:t>
            </a:r>
            <a:r>
              <a:rPr lang="en-IN" sz="2400" b="1" dirty="0">
                <a:latin typeface="Calibri" panose="020F0502020204030204" pitchFamily="34" charset="0"/>
                <a:ea typeface="Calibri" panose="020F0502020204030204" pitchFamily="34" charset="0"/>
                <a:cs typeface="Calibri" panose="020F0502020204030204" pitchFamily="34" charset="0"/>
              </a:rPr>
              <a:t>1. Narayan Kishor Adhude</a:t>
            </a:r>
            <a:br>
              <a:rPr lang="en-IN" sz="2400" b="1" dirty="0">
                <a:latin typeface="Calibri" panose="020F0502020204030204" pitchFamily="34" charset="0"/>
                <a:ea typeface="Calibri" panose="020F0502020204030204" pitchFamily="34" charset="0"/>
                <a:cs typeface="Calibri" panose="020F0502020204030204" pitchFamily="34" charset="0"/>
              </a:rPr>
            </a:br>
            <a:r>
              <a:rPr lang="en-IN" sz="2400" b="1" dirty="0">
                <a:latin typeface="Calibri" panose="020F0502020204030204" pitchFamily="34" charset="0"/>
                <a:ea typeface="Calibri" panose="020F0502020204030204" pitchFamily="34" charset="0"/>
                <a:cs typeface="Calibri" panose="020F0502020204030204" pitchFamily="34" charset="0"/>
              </a:rPr>
              <a:t>      2. Shubham Bhagawan Mhaske</a:t>
            </a:r>
            <a:br>
              <a:rPr lang="en-IN" sz="2400" b="1" dirty="0">
                <a:latin typeface="Calibri" panose="020F0502020204030204" pitchFamily="34" charset="0"/>
                <a:ea typeface="Calibri" panose="020F0502020204030204" pitchFamily="34" charset="0"/>
                <a:cs typeface="Calibri" panose="020F0502020204030204" pitchFamily="34" charset="0"/>
              </a:rPr>
            </a:br>
            <a:r>
              <a:rPr lang="en-IN" sz="2400" b="1" dirty="0">
                <a:latin typeface="Calibri" panose="020F0502020204030204" pitchFamily="34" charset="0"/>
                <a:ea typeface="Calibri" panose="020F0502020204030204" pitchFamily="34" charset="0"/>
                <a:cs typeface="Calibri" panose="020F0502020204030204" pitchFamily="34" charset="0"/>
              </a:rPr>
              <a:t>      3. Dinesh Anil Kawade</a:t>
            </a:r>
            <a:br>
              <a:rPr lang="en-IN" sz="2400" dirty="0"/>
            </a:br>
            <a:r>
              <a:rPr lang="en-IN" sz="2400" dirty="0"/>
              <a:t>     </a:t>
            </a:r>
          </a:p>
        </p:txBody>
      </p:sp>
      <p:sp>
        <p:nvSpPr>
          <p:cNvPr id="8" name="TextBox 7">
            <a:extLst>
              <a:ext uri="{FF2B5EF4-FFF2-40B4-BE49-F238E27FC236}">
                <a16:creationId xmlns:a16="http://schemas.microsoft.com/office/drawing/2014/main" id="{4F3815CB-9277-7B36-8495-741E1C5ACB79}"/>
              </a:ext>
            </a:extLst>
          </p:cNvPr>
          <p:cNvSpPr txBox="1"/>
          <p:nvPr/>
        </p:nvSpPr>
        <p:spPr>
          <a:xfrm>
            <a:off x="5125673" y="5880683"/>
            <a:ext cx="6333688" cy="461665"/>
          </a:xfrm>
          <a:prstGeom prst="rect">
            <a:avLst/>
          </a:prstGeom>
          <a:noFill/>
        </p:spPr>
        <p:txBody>
          <a:bodyPr wrap="square" rtlCol="0">
            <a:spAutoFit/>
          </a:bodyPr>
          <a:lstStyle/>
          <a:p>
            <a:r>
              <a:rPr lang="en-IN" sz="2400" b="1" dirty="0"/>
              <a:t>Under The Guidance Of Prof. Y. D. Pawar sir</a:t>
            </a:r>
          </a:p>
        </p:txBody>
      </p:sp>
      <p:pic>
        <p:nvPicPr>
          <p:cNvPr id="10" name="Picture 9">
            <a:extLst>
              <a:ext uri="{FF2B5EF4-FFF2-40B4-BE49-F238E27FC236}">
                <a16:creationId xmlns:a16="http://schemas.microsoft.com/office/drawing/2014/main" id="{BAAE693C-F1E1-8727-1C79-845CECD780FB}"/>
              </a:ext>
            </a:extLst>
          </p:cNvPr>
          <p:cNvPicPr>
            <a:picLocks noChangeAspect="1"/>
          </p:cNvPicPr>
          <p:nvPr/>
        </p:nvPicPr>
        <p:blipFill>
          <a:blip r:embed="rId2"/>
          <a:stretch>
            <a:fillRect/>
          </a:stretch>
        </p:blipFill>
        <p:spPr>
          <a:xfrm>
            <a:off x="4563496" y="245481"/>
            <a:ext cx="2963409" cy="1905000"/>
          </a:xfrm>
          <a:prstGeom prst="rect">
            <a:avLst/>
          </a:prstGeom>
        </p:spPr>
      </p:pic>
    </p:spTree>
    <p:extLst>
      <p:ext uri="{BB962C8B-B14F-4D97-AF65-F5344CB8AC3E}">
        <p14:creationId xmlns:p14="http://schemas.microsoft.com/office/powerpoint/2010/main" val="3801905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9E856-4803-50F6-CDDB-28B13042B2A6}"/>
              </a:ext>
            </a:extLst>
          </p:cNvPr>
          <p:cNvSpPr>
            <a:spLocks noGrp="1"/>
          </p:cNvSpPr>
          <p:nvPr>
            <p:ph type="title"/>
          </p:nvPr>
        </p:nvSpPr>
        <p:spPr>
          <a:xfrm>
            <a:off x="1066768" y="469228"/>
            <a:ext cx="9905998" cy="1478570"/>
          </a:xfrm>
        </p:spPr>
        <p:txBody>
          <a:bodyPr/>
          <a:lstStyle/>
          <a:p>
            <a:pPr marL="571500" indent="-571500">
              <a:buFont typeface="Wingdings" panose="05000000000000000000" pitchFamily="2" charset="2"/>
              <a:buChar char="v"/>
            </a:pPr>
            <a:r>
              <a:rPr lang="en-US" b="1" dirty="0">
                <a:latin typeface="Segoe UI" panose="020B0502040204020203" pitchFamily="34" charset="0"/>
                <a:ea typeface="Sans Serif Collection" panose="020B0502040504020204" pitchFamily="34" charset="0"/>
                <a:cs typeface="Segoe UI" panose="020B0502040204020203" pitchFamily="34" charset="0"/>
              </a:rPr>
              <a:t>Agenda</a:t>
            </a:r>
            <a:r>
              <a:rPr lang="en-US" b="1" dirty="0">
                <a:latin typeface="Montserrat" panose="020F0502020204030204" pitchFamily="2" charset="0"/>
                <a:ea typeface="Calibri" panose="020F0502020204030204" pitchFamily="34" charset="0"/>
                <a:cs typeface="Calibri" panose="020F0502020204030204" pitchFamily="34" charset="0"/>
              </a:rPr>
              <a:t> </a:t>
            </a:r>
            <a:r>
              <a:rPr lang="en-IN" b="1" dirty="0">
                <a:latin typeface="Montserrat" panose="020F0502020204030204" pitchFamily="2" charset="0"/>
                <a:ea typeface="Calibri" panose="020F0502020204030204" pitchFamily="34" charset="0"/>
                <a:cs typeface="Calibri" panose="020F0502020204030204" pitchFamily="34" charset="0"/>
              </a:rPr>
              <a:t>:</a:t>
            </a:r>
          </a:p>
        </p:txBody>
      </p:sp>
      <p:sp>
        <p:nvSpPr>
          <p:cNvPr id="5" name="TextBox 4">
            <a:extLst>
              <a:ext uri="{FF2B5EF4-FFF2-40B4-BE49-F238E27FC236}">
                <a16:creationId xmlns:a16="http://schemas.microsoft.com/office/drawing/2014/main" id="{FF84745E-8D1B-CEAB-AF79-E86F645CD44E}"/>
              </a:ext>
            </a:extLst>
          </p:cNvPr>
          <p:cNvSpPr txBox="1"/>
          <p:nvPr/>
        </p:nvSpPr>
        <p:spPr>
          <a:xfrm>
            <a:off x="1606919" y="1557271"/>
            <a:ext cx="8078598" cy="3970318"/>
          </a:xfrm>
          <a:prstGeom prst="rect">
            <a:avLst/>
          </a:prstGeom>
          <a:noFill/>
        </p:spPr>
        <p:txBody>
          <a:bodyPr wrap="square" rtlCol="0">
            <a:spAutoFit/>
          </a:bodyPr>
          <a:lstStyle/>
          <a:p>
            <a:pPr marL="285750" indent="-285750">
              <a:buFont typeface="Wingdings" panose="05000000000000000000" pitchFamily="2" charset="2"/>
              <a:buChar char="q"/>
            </a:pPr>
            <a:r>
              <a:rPr lang="en-US" sz="2800" dirty="0"/>
              <a:t> </a:t>
            </a:r>
            <a:r>
              <a:rPr lang="en-US" sz="2800" dirty="0">
                <a:latin typeface="Segoe UI" panose="020B0502040204020203" pitchFamily="34" charset="0"/>
                <a:cs typeface="Segoe UI" panose="020B0502040204020203" pitchFamily="34" charset="0"/>
              </a:rPr>
              <a:t>Introduction</a:t>
            </a:r>
          </a:p>
          <a:p>
            <a:pPr marL="285750" indent="-285750">
              <a:buFont typeface="Wingdings" panose="05000000000000000000" pitchFamily="2" charset="2"/>
              <a:buChar char="q"/>
            </a:pPr>
            <a:r>
              <a:rPr lang="en-US" sz="2800" dirty="0">
                <a:latin typeface="Segoe UI" panose="020B0502040204020203" pitchFamily="34" charset="0"/>
                <a:cs typeface="Segoe UI" panose="020B0502040204020203" pitchFamily="34" charset="0"/>
              </a:rPr>
              <a:t> Problem Statement</a:t>
            </a:r>
          </a:p>
          <a:p>
            <a:pPr marL="285750" indent="-285750">
              <a:buFont typeface="Wingdings" panose="05000000000000000000" pitchFamily="2" charset="2"/>
              <a:buChar char="q"/>
            </a:pPr>
            <a:r>
              <a:rPr lang="en-US" sz="2800" dirty="0">
                <a:latin typeface="Segoe UI" panose="020B0502040204020203" pitchFamily="34" charset="0"/>
                <a:cs typeface="Segoe UI" panose="020B0502040204020203" pitchFamily="34" charset="0"/>
              </a:rPr>
              <a:t> Objective</a:t>
            </a:r>
          </a:p>
          <a:p>
            <a:pPr marL="285750" indent="-285750">
              <a:buFont typeface="Wingdings" panose="05000000000000000000" pitchFamily="2" charset="2"/>
              <a:buChar char="q"/>
            </a:pPr>
            <a:r>
              <a:rPr lang="en-US" sz="2800" dirty="0">
                <a:latin typeface="Segoe UI" panose="020B0502040204020203" pitchFamily="34" charset="0"/>
                <a:cs typeface="Segoe UI" panose="020B0502040204020203" pitchFamily="34" charset="0"/>
              </a:rPr>
              <a:t> Methodology</a:t>
            </a:r>
          </a:p>
          <a:p>
            <a:pPr marL="285750" indent="-285750">
              <a:buFont typeface="Wingdings" panose="05000000000000000000" pitchFamily="2" charset="2"/>
              <a:buChar char="q"/>
            </a:pPr>
            <a:r>
              <a:rPr lang="en-US" sz="2800" dirty="0">
                <a:latin typeface="Segoe UI" panose="020B0502040204020203" pitchFamily="34" charset="0"/>
                <a:cs typeface="Segoe UI" panose="020B0502040204020203" pitchFamily="34" charset="0"/>
              </a:rPr>
              <a:t> Technological Stack</a:t>
            </a:r>
          </a:p>
          <a:p>
            <a:pPr marL="285750" indent="-285750">
              <a:buFont typeface="Wingdings" panose="05000000000000000000" pitchFamily="2" charset="2"/>
              <a:buChar char="q"/>
            </a:pPr>
            <a:r>
              <a:rPr lang="en-US" sz="2800" dirty="0">
                <a:latin typeface="Segoe UI" panose="020B0502040204020203" pitchFamily="34" charset="0"/>
                <a:cs typeface="Segoe UI" panose="020B0502040204020203" pitchFamily="34" charset="0"/>
              </a:rPr>
              <a:t> Expected Output</a:t>
            </a:r>
          </a:p>
          <a:p>
            <a:pPr marL="285750" indent="-285750">
              <a:buFont typeface="Wingdings" panose="05000000000000000000" pitchFamily="2" charset="2"/>
              <a:buChar char="q"/>
            </a:pPr>
            <a:r>
              <a:rPr lang="en-US" sz="2800" dirty="0">
                <a:latin typeface="Segoe UI" panose="020B0502040204020203" pitchFamily="34" charset="0"/>
                <a:cs typeface="Segoe UI" panose="020B0502040204020203" pitchFamily="34" charset="0"/>
              </a:rPr>
              <a:t> Benefits &amp; Future Scope</a:t>
            </a:r>
          </a:p>
          <a:p>
            <a:pPr marL="285750" indent="-285750">
              <a:buFont typeface="Wingdings" panose="05000000000000000000" pitchFamily="2" charset="2"/>
              <a:buChar char="q"/>
            </a:pPr>
            <a:r>
              <a:rPr lang="en-US" sz="2800" dirty="0">
                <a:latin typeface="Segoe UI" panose="020B0502040204020203" pitchFamily="34" charset="0"/>
                <a:cs typeface="Segoe UI" panose="020B0502040204020203" pitchFamily="34" charset="0"/>
              </a:rPr>
              <a:t> References </a:t>
            </a:r>
          </a:p>
          <a:p>
            <a:pPr marL="285750" indent="-285750">
              <a:buFont typeface="Wingdings" panose="05000000000000000000" pitchFamily="2" charset="2"/>
              <a:buChar char="q"/>
            </a:pPr>
            <a:r>
              <a:rPr lang="en-US" sz="2800" dirty="0">
                <a:latin typeface="Segoe UI" panose="020B0502040204020203" pitchFamily="34" charset="0"/>
                <a:cs typeface="Segoe UI" panose="020B0502040204020203" pitchFamily="34" charset="0"/>
              </a:rPr>
              <a:t> Conclusion</a:t>
            </a:r>
          </a:p>
        </p:txBody>
      </p:sp>
    </p:spTree>
    <p:extLst>
      <p:ext uri="{BB962C8B-B14F-4D97-AF65-F5344CB8AC3E}">
        <p14:creationId xmlns:p14="http://schemas.microsoft.com/office/powerpoint/2010/main" val="3562159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4B05-05C3-27D1-5621-CCA5026AA39E}"/>
              </a:ext>
            </a:extLst>
          </p:cNvPr>
          <p:cNvSpPr>
            <a:spLocks noGrp="1"/>
          </p:cNvSpPr>
          <p:nvPr>
            <p:ph type="title"/>
          </p:nvPr>
        </p:nvSpPr>
        <p:spPr/>
        <p:txBody>
          <a:bodyPr/>
          <a:lstStyle/>
          <a:p>
            <a:pPr marL="571500" indent="-571500">
              <a:buFont typeface="Wingdings" panose="05000000000000000000" pitchFamily="2" charset="2"/>
              <a:buChar char="v"/>
            </a:pPr>
            <a:r>
              <a:rPr lang="en-IN" b="1" dirty="0">
                <a:latin typeface="Segoe UI" panose="020B0502040204020203" pitchFamily="34" charset="0"/>
                <a:ea typeface="Calibri" panose="020F0502020204030204" pitchFamily="34" charset="0"/>
                <a:cs typeface="Segoe UI" panose="020B0502040204020203" pitchFamily="34" charset="0"/>
              </a:rPr>
              <a:t>Introduction</a:t>
            </a:r>
          </a:p>
        </p:txBody>
      </p:sp>
      <p:sp>
        <p:nvSpPr>
          <p:cNvPr id="4" name="TextBox 3">
            <a:extLst>
              <a:ext uri="{FF2B5EF4-FFF2-40B4-BE49-F238E27FC236}">
                <a16:creationId xmlns:a16="http://schemas.microsoft.com/office/drawing/2014/main" id="{F3B7A61C-B884-6848-A4B8-1DEC64BF08D8}"/>
              </a:ext>
            </a:extLst>
          </p:cNvPr>
          <p:cNvSpPr txBox="1"/>
          <p:nvPr/>
        </p:nvSpPr>
        <p:spPr>
          <a:xfrm>
            <a:off x="1658568" y="1806258"/>
            <a:ext cx="9986035" cy="3385542"/>
          </a:xfrm>
          <a:prstGeom prst="rect">
            <a:avLst/>
          </a:prstGeom>
          <a:noFill/>
        </p:spPr>
        <p:txBody>
          <a:bodyPr wrap="square" rtlCol="0">
            <a:spAutoFit/>
          </a:bodyPr>
          <a:lstStyle/>
          <a:p>
            <a:pPr marL="342900" indent="-342900" algn="just">
              <a:buFont typeface="Wingdings" panose="05000000000000000000" pitchFamily="2" charset="2"/>
              <a:buChar char="q"/>
            </a:pPr>
            <a:r>
              <a:rPr lang="en-US" sz="2400" dirty="0"/>
              <a:t> </a:t>
            </a:r>
            <a:r>
              <a:rPr lang="en-US" sz="2800" dirty="0">
                <a:latin typeface="Calibri" panose="020F0502020204030204" pitchFamily="34" charset="0"/>
                <a:ea typeface="Calibri" panose="020F0502020204030204" pitchFamily="34" charset="0"/>
                <a:cs typeface="Calibri" panose="020F0502020204030204" pitchFamily="34" charset="0"/>
              </a:rPr>
              <a:t>Agriculture is a major contributor to the Indian economy.</a:t>
            </a:r>
          </a:p>
          <a:p>
            <a:pPr marL="342900" indent="-342900" algn="just">
              <a:buFont typeface="Wingdings" panose="05000000000000000000" pitchFamily="2" charset="2"/>
              <a:buChar char="q"/>
            </a:pPr>
            <a:r>
              <a:rPr lang="en-US" sz="2800" dirty="0">
                <a:latin typeface="Calibri" panose="020F0502020204030204" pitchFamily="34" charset="0"/>
                <a:ea typeface="Calibri" panose="020F0502020204030204" pitchFamily="34" charset="0"/>
                <a:cs typeface="Calibri" panose="020F0502020204030204" pitchFamily="34" charset="0"/>
              </a:rPr>
              <a:t> Plant diseases significantly reduce crop yield and farmer income.</a:t>
            </a:r>
          </a:p>
          <a:p>
            <a:pPr marL="342900" indent="-342900" algn="just">
              <a:buFont typeface="Wingdings" panose="05000000000000000000" pitchFamily="2" charset="2"/>
              <a:buChar char="q"/>
            </a:pPr>
            <a:r>
              <a:rPr lang="en-US" sz="2800" dirty="0">
                <a:latin typeface="Calibri" panose="020F0502020204030204" pitchFamily="34" charset="0"/>
                <a:ea typeface="Calibri" panose="020F0502020204030204" pitchFamily="34" charset="0"/>
                <a:cs typeface="Calibri" panose="020F0502020204030204" pitchFamily="34" charset="0"/>
              </a:rPr>
              <a:t> Early detection is critical but requires expert knowledge.</a:t>
            </a:r>
          </a:p>
          <a:p>
            <a:pPr marL="342900" indent="-342900" algn="just">
              <a:buFont typeface="Wingdings" panose="05000000000000000000" pitchFamily="2" charset="2"/>
              <a:buChar char="q"/>
            </a:pPr>
            <a:r>
              <a:rPr lang="en-US" sz="2800" dirty="0">
                <a:latin typeface="Calibri" panose="020F0502020204030204" pitchFamily="34" charset="0"/>
                <a:ea typeface="Calibri" panose="020F0502020204030204" pitchFamily="34" charset="0"/>
                <a:cs typeface="Calibri" panose="020F0502020204030204" pitchFamily="34" charset="0"/>
              </a:rPr>
              <a:t> Deep Learning enables automated image-based disease detection.</a:t>
            </a:r>
          </a:p>
          <a:p>
            <a:pPr marL="342900" indent="-342900" algn="just">
              <a:buFont typeface="Wingdings" panose="05000000000000000000" pitchFamily="2" charset="2"/>
              <a:buChar char="q"/>
            </a:pPr>
            <a:r>
              <a:rPr lang="en-US" sz="2800" dirty="0">
                <a:latin typeface="Calibri" panose="020F0502020204030204" pitchFamily="34" charset="0"/>
                <a:ea typeface="Calibri" panose="020F0502020204030204" pitchFamily="34" charset="0"/>
                <a:cs typeface="Calibri" panose="020F0502020204030204" pitchFamily="34" charset="0"/>
              </a:rPr>
              <a:t> This project proposes an AI-based Crop Health Diagnostic System.</a:t>
            </a:r>
          </a:p>
          <a:p>
            <a:endParaRPr lang="en-IN" dirty="0"/>
          </a:p>
        </p:txBody>
      </p:sp>
    </p:spTree>
    <p:extLst>
      <p:ext uri="{BB962C8B-B14F-4D97-AF65-F5344CB8AC3E}">
        <p14:creationId xmlns:p14="http://schemas.microsoft.com/office/powerpoint/2010/main" val="3118764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C1FBC-A386-EF9B-D8B8-DC36FB58DE15}"/>
              </a:ext>
            </a:extLst>
          </p:cNvPr>
          <p:cNvSpPr>
            <a:spLocks noGrp="1"/>
          </p:cNvSpPr>
          <p:nvPr>
            <p:ph type="title"/>
          </p:nvPr>
        </p:nvSpPr>
        <p:spPr/>
        <p:txBody>
          <a:bodyPr/>
          <a:lstStyle/>
          <a:p>
            <a:pPr marL="571500" indent="-571500">
              <a:buFont typeface="Wingdings" panose="05000000000000000000" pitchFamily="2" charset="2"/>
              <a:buChar char="v"/>
            </a:pPr>
            <a:r>
              <a:rPr lang="en-IN" b="1" dirty="0">
                <a:latin typeface="Segoe UI" panose="020B0502040204020203" pitchFamily="34" charset="0"/>
                <a:ea typeface="Calibri" panose="020F0502020204030204" pitchFamily="34" charset="0"/>
                <a:cs typeface="Segoe UI" panose="020B0502040204020203" pitchFamily="34" charset="0"/>
              </a:rPr>
              <a:t>Problem Statement </a:t>
            </a:r>
          </a:p>
        </p:txBody>
      </p:sp>
      <p:sp>
        <p:nvSpPr>
          <p:cNvPr id="3" name="TextBox 2">
            <a:extLst>
              <a:ext uri="{FF2B5EF4-FFF2-40B4-BE49-F238E27FC236}">
                <a16:creationId xmlns:a16="http://schemas.microsoft.com/office/drawing/2014/main" id="{67E0E9D9-FEA0-28F8-CE90-33911985676F}"/>
              </a:ext>
            </a:extLst>
          </p:cNvPr>
          <p:cNvSpPr txBox="1"/>
          <p:nvPr/>
        </p:nvSpPr>
        <p:spPr>
          <a:xfrm>
            <a:off x="1712053" y="1710966"/>
            <a:ext cx="8492067" cy="4062651"/>
          </a:xfrm>
          <a:prstGeom prst="rect">
            <a:avLst/>
          </a:prstGeom>
          <a:noFill/>
        </p:spPr>
        <p:txBody>
          <a:bodyPr wrap="square" rtlCol="0">
            <a:spAutoFit/>
          </a:bodyPr>
          <a:lstStyle/>
          <a:p>
            <a:pPr marL="342900" indent="-342900" algn="just">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Plant diseases are one of the major causes of reduced agricultural productivity and financial loss for farmers. Traditional disease detection methods rely on manual inspection, which requires expert knowledge and is often time-consuming and inaccurate. </a:t>
            </a:r>
          </a:p>
          <a:p>
            <a:pPr marL="342900" indent="-342900" algn="just">
              <a:buFont typeface="Wingdings" panose="05000000000000000000" pitchFamily="2" charset="2"/>
              <a:buChar char="Ø"/>
            </a:pPr>
            <a:r>
              <a:rPr lang="en-US" sz="2400" dirty="0">
                <a:latin typeface="Calibri" panose="020F0502020204030204" pitchFamily="34" charset="0"/>
                <a:ea typeface="Calibri" panose="020F0502020204030204" pitchFamily="34" charset="0"/>
                <a:cs typeface="Calibri" panose="020F0502020204030204" pitchFamily="34" charset="0"/>
              </a:rPr>
              <a:t>In rural areas, access to agricultural experts is limited, leading to delayed diagnosis and improper treatment. Therefore, there is a need for an automated, intelligent, and accessible system that can accurately detect plant diseases at an early stage using leaf images.</a:t>
            </a:r>
          </a:p>
          <a:p>
            <a:endParaRPr lang="en-IN" dirty="0"/>
          </a:p>
        </p:txBody>
      </p:sp>
    </p:spTree>
    <p:extLst>
      <p:ext uri="{BB962C8B-B14F-4D97-AF65-F5344CB8AC3E}">
        <p14:creationId xmlns:p14="http://schemas.microsoft.com/office/powerpoint/2010/main" val="3993458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5D73E-DA56-CD01-056C-FFEB869E6CDE}"/>
              </a:ext>
            </a:extLst>
          </p:cNvPr>
          <p:cNvSpPr>
            <a:spLocks noGrp="1"/>
          </p:cNvSpPr>
          <p:nvPr>
            <p:ph type="title"/>
          </p:nvPr>
        </p:nvSpPr>
        <p:spPr>
          <a:xfrm>
            <a:off x="1042018" y="395215"/>
            <a:ext cx="9905998" cy="1478570"/>
          </a:xfrm>
        </p:spPr>
        <p:txBody>
          <a:bodyPr/>
          <a:lstStyle/>
          <a:p>
            <a:pPr marL="571500" indent="-571500">
              <a:buFont typeface="Wingdings" panose="05000000000000000000" pitchFamily="2" charset="2"/>
              <a:buChar char="v"/>
            </a:pPr>
            <a:r>
              <a:rPr lang="en-US" b="1" dirty="0">
                <a:latin typeface="Segoe UI" panose="020B0502040204020203" pitchFamily="34" charset="0"/>
                <a:cs typeface="Segoe UI" panose="020B0502040204020203" pitchFamily="34" charset="0"/>
              </a:rPr>
              <a:t>Objective :</a:t>
            </a:r>
            <a:endParaRPr lang="en-IN" b="1" dirty="0">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49F79031-4009-C5C1-6357-12CB7DD39296}"/>
              </a:ext>
            </a:extLst>
          </p:cNvPr>
          <p:cNvSpPr txBox="1"/>
          <p:nvPr/>
        </p:nvSpPr>
        <p:spPr>
          <a:xfrm>
            <a:off x="1607878" y="1679510"/>
            <a:ext cx="9905998" cy="4062651"/>
          </a:xfrm>
          <a:prstGeom prst="rect">
            <a:avLst/>
          </a:prstGeom>
          <a:noFill/>
        </p:spPr>
        <p:txBody>
          <a:bodyPr wrap="square" rtlCol="0">
            <a:spAutoFit/>
          </a:bodyPr>
          <a:lstStyle/>
          <a:p>
            <a:pPr marL="342900" indent="-342900">
              <a:buFont typeface="Wingdings" panose="05000000000000000000" pitchFamily="2" charset="2"/>
              <a:buChar char="q"/>
            </a:pPr>
            <a:r>
              <a:rPr lang="en-US" sz="2400" dirty="0">
                <a:latin typeface="Calibri" panose="020F0502020204030204" pitchFamily="34" charset="0"/>
                <a:ea typeface="Calibri" panose="020F0502020204030204" pitchFamily="34" charset="0"/>
                <a:cs typeface="Calibri" panose="020F0502020204030204" pitchFamily="34" charset="0"/>
              </a:rPr>
              <a:t>To develop an AI-based system for automatic detection of plant   diseases using leaf images.</a:t>
            </a:r>
          </a:p>
          <a:p>
            <a:pPr marL="342900" indent="-342900">
              <a:buFont typeface="Wingdings" panose="05000000000000000000" pitchFamily="2" charset="2"/>
              <a:buChar char="q"/>
            </a:pPr>
            <a:r>
              <a:rPr lang="en-US" sz="2400" dirty="0">
                <a:latin typeface="Calibri" panose="020F0502020204030204" pitchFamily="34" charset="0"/>
                <a:ea typeface="Calibri" panose="020F0502020204030204" pitchFamily="34" charset="0"/>
                <a:cs typeface="Calibri" panose="020F0502020204030204" pitchFamily="34" charset="0"/>
              </a:rPr>
              <a:t>To build a user-friendly web application for easy image upload and result display.</a:t>
            </a:r>
          </a:p>
          <a:p>
            <a:pPr marL="342900" indent="-342900">
              <a:buFont typeface="Wingdings" panose="05000000000000000000" pitchFamily="2" charset="2"/>
              <a:buChar char="q"/>
            </a:pPr>
            <a:r>
              <a:rPr lang="en-US" sz="2400" dirty="0">
                <a:latin typeface="Calibri" panose="020F0502020204030204" pitchFamily="34" charset="0"/>
                <a:ea typeface="Calibri" panose="020F0502020204030204" pitchFamily="34" charset="0"/>
                <a:cs typeface="Calibri" panose="020F0502020204030204" pitchFamily="34" charset="0"/>
              </a:rPr>
              <a:t>To provide detailed information about detected diseases, including causes and treatment solutions.</a:t>
            </a:r>
          </a:p>
          <a:p>
            <a:pPr marL="342900" indent="-342900">
              <a:buFont typeface="Wingdings" panose="05000000000000000000" pitchFamily="2" charset="2"/>
              <a:buChar char="q"/>
            </a:pPr>
            <a:r>
              <a:rPr lang="en-US" sz="2400" dirty="0">
                <a:latin typeface="Calibri" panose="020F0502020204030204" pitchFamily="34" charset="0"/>
                <a:ea typeface="Calibri" panose="020F0502020204030204" pitchFamily="34" charset="0"/>
                <a:cs typeface="Calibri" panose="020F0502020204030204" pitchFamily="34" charset="0"/>
              </a:rPr>
              <a:t>To integrate frontend, backend, and machine learning components into a complete end-to-end system.</a:t>
            </a:r>
          </a:p>
          <a:p>
            <a:pPr marL="342900" indent="-342900">
              <a:buFont typeface="Wingdings" panose="05000000000000000000" pitchFamily="2" charset="2"/>
              <a:buChar char="q"/>
            </a:pPr>
            <a:r>
              <a:rPr lang="en-US" sz="2400" dirty="0">
                <a:latin typeface="Calibri" panose="020F0502020204030204" pitchFamily="34" charset="0"/>
                <a:ea typeface="Calibri" panose="020F0502020204030204" pitchFamily="34" charset="0"/>
                <a:cs typeface="Calibri" panose="020F0502020204030204" pitchFamily="34" charset="0"/>
              </a:rPr>
              <a:t>o design a scalable system that can be extended for mobile apps, real-time detection, and cloud deployment in the future. </a:t>
            </a:r>
          </a:p>
          <a:p>
            <a:endParaRPr lang="en-IN" dirty="0"/>
          </a:p>
        </p:txBody>
      </p:sp>
    </p:spTree>
    <p:extLst>
      <p:ext uri="{BB962C8B-B14F-4D97-AF65-F5344CB8AC3E}">
        <p14:creationId xmlns:p14="http://schemas.microsoft.com/office/powerpoint/2010/main" val="4099886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F8A44-646E-BCC3-DA94-BE245B6E4B51}"/>
              </a:ext>
            </a:extLst>
          </p:cNvPr>
          <p:cNvSpPr>
            <a:spLocks noGrp="1"/>
          </p:cNvSpPr>
          <p:nvPr>
            <p:ph type="title"/>
          </p:nvPr>
        </p:nvSpPr>
        <p:spPr>
          <a:xfrm>
            <a:off x="1003042" y="-14115"/>
            <a:ext cx="9905998" cy="1478570"/>
          </a:xfrm>
        </p:spPr>
        <p:txBody>
          <a:bodyPr/>
          <a:lstStyle/>
          <a:p>
            <a:pPr marL="571500" indent="-571500">
              <a:buFont typeface="Wingdings" panose="05000000000000000000" pitchFamily="2" charset="2"/>
              <a:buChar char="v"/>
            </a:pPr>
            <a:r>
              <a:rPr lang="en-IN" b="1" dirty="0">
                <a:latin typeface="Segoe UI" panose="020B0502040204020203" pitchFamily="34" charset="0"/>
                <a:ea typeface="Calibri" panose="020F0502020204030204" pitchFamily="34" charset="0"/>
                <a:cs typeface="Segoe UI" panose="020B0502040204020203" pitchFamily="34" charset="0"/>
              </a:rPr>
              <a:t>Methodology/Workflow :</a:t>
            </a:r>
          </a:p>
        </p:txBody>
      </p:sp>
      <p:sp>
        <p:nvSpPr>
          <p:cNvPr id="6" name="TextBox 5">
            <a:extLst>
              <a:ext uri="{FF2B5EF4-FFF2-40B4-BE49-F238E27FC236}">
                <a16:creationId xmlns:a16="http://schemas.microsoft.com/office/drawing/2014/main" id="{CCD33CE9-9839-83CF-EBB6-5AE311B84489}"/>
              </a:ext>
            </a:extLst>
          </p:cNvPr>
          <p:cNvSpPr txBox="1"/>
          <p:nvPr/>
        </p:nvSpPr>
        <p:spPr>
          <a:xfrm>
            <a:off x="8180388" y="1464455"/>
            <a:ext cx="3465598" cy="4093428"/>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b="1" dirty="0">
                <a:latin typeface="Calibri" panose="020F0502020204030204" pitchFamily="34" charset="0"/>
                <a:ea typeface="Calibri" panose="020F0502020204030204" pitchFamily="34" charset="0"/>
                <a:cs typeface="Calibri" panose="020F0502020204030204" pitchFamily="34" charset="0"/>
              </a:rPr>
              <a:t>The System Follows the Below steps :</a:t>
            </a:r>
          </a:p>
          <a:p>
            <a:pPr marL="342900" indent="-342900" algn="just">
              <a:buFont typeface="Wingdings" panose="05000000000000000000" pitchFamily="2" charset="2"/>
              <a:buChar char="ü"/>
            </a:pPr>
            <a:r>
              <a:rPr lang="en-US" sz="2000" dirty="0">
                <a:latin typeface="Calibri" panose="020F0502020204030204" pitchFamily="34" charset="0"/>
                <a:ea typeface="Calibri" panose="020F0502020204030204" pitchFamily="34" charset="0"/>
                <a:cs typeface="Calibri" panose="020F0502020204030204" pitchFamily="34" charset="0"/>
              </a:rPr>
              <a:t>Dataset collection and organization</a:t>
            </a:r>
          </a:p>
          <a:p>
            <a:pPr marL="342900" indent="-342900" algn="just">
              <a:buFont typeface="Wingdings" panose="05000000000000000000" pitchFamily="2" charset="2"/>
              <a:buChar char="ü"/>
            </a:pPr>
            <a:r>
              <a:rPr lang="en-US" sz="2000" dirty="0">
                <a:latin typeface="Calibri" panose="020F0502020204030204" pitchFamily="34" charset="0"/>
                <a:ea typeface="Calibri" panose="020F0502020204030204" pitchFamily="34" charset="0"/>
                <a:cs typeface="Calibri" panose="020F0502020204030204" pitchFamily="34" charset="0"/>
              </a:rPr>
              <a:t>Image preprocessing (Resizing &amp; Normalization)</a:t>
            </a:r>
          </a:p>
          <a:p>
            <a:pPr marL="342900" indent="-342900" algn="just">
              <a:buFont typeface="Wingdings" panose="05000000000000000000" pitchFamily="2" charset="2"/>
              <a:buChar char="ü"/>
            </a:pPr>
            <a:r>
              <a:rPr lang="en-US" sz="2000" dirty="0">
                <a:latin typeface="Calibri" panose="020F0502020204030204" pitchFamily="34" charset="0"/>
                <a:ea typeface="Calibri" panose="020F0502020204030204" pitchFamily="34" charset="0"/>
                <a:cs typeface="Calibri" panose="020F0502020204030204" pitchFamily="34" charset="0"/>
              </a:rPr>
              <a:t>Model training using Transfer Learning (</a:t>
            </a:r>
            <a:r>
              <a:rPr lang="en-IN" sz="2000" dirty="0">
                <a:latin typeface="Calibri" panose="020F0502020204030204" pitchFamily="34" charset="0"/>
                <a:ea typeface="Calibri" panose="020F0502020204030204" pitchFamily="34" charset="0"/>
                <a:cs typeface="Calibri" panose="020F0502020204030204" pitchFamily="34" charset="0"/>
              </a:rPr>
              <a:t>EfficientNetB4</a:t>
            </a:r>
            <a:r>
              <a:rPr lang="en-US" sz="2000" dirty="0">
                <a:latin typeface="Calibri" panose="020F0502020204030204" pitchFamily="34" charset="0"/>
                <a:ea typeface="Calibri" panose="020F0502020204030204" pitchFamily="34" charset="0"/>
                <a:cs typeface="Calibri" panose="020F0502020204030204" pitchFamily="34" charset="0"/>
              </a:rPr>
              <a:t>)</a:t>
            </a:r>
          </a:p>
          <a:p>
            <a:pPr marL="342900" indent="-342900" algn="just">
              <a:buFont typeface="Wingdings" panose="05000000000000000000" pitchFamily="2" charset="2"/>
              <a:buChar char="ü"/>
            </a:pPr>
            <a:r>
              <a:rPr lang="en-US" sz="2000" dirty="0">
                <a:latin typeface="Calibri" panose="020F0502020204030204" pitchFamily="34" charset="0"/>
                <a:ea typeface="Calibri" panose="020F0502020204030204" pitchFamily="34" charset="0"/>
                <a:cs typeface="Calibri" panose="020F0502020204030204" pitchFamily="34" charset="0"/>
              </a:rPr>
              <a:t>Validation and performance evaluation</a:t>
            </a:r>
          </a:p>
          <a:p>
            <a:pPr marL="342900" indent="-342900" algn="just">
              <a:buFont typeface="Wingdings" panose="05000000000000000000" pitchFamily="2" charset="2"/>
              <a:buChar char="ü"/>
            </a:pPr>
            <a:r>
              <a:rPr lang="en-US" sz="2000" dirty="0">
                <a:latin typeface="Calibri" panose="020F0502020204030204" pitchFamily="34" charset="0"/>
                <a:ea typeface="Calibri" panose="020F0502020204030204" pitchFamily="34" charset="0"/>
                <a:cs typeface="Calibri" panose="020F0502020204030204" pitchFamily="34" charset="0"/>
              </a:rPr>
              <a:t>Disease prediction using trained model</a:t>
            </a:r>
          </a:p>
        </p:txBody>
      </p:sp>
      <p:pic>
        <p:nvPicPr>
          <p:cNvPr id="5" name="Picture 4">
            <a:extLst>
              <a:ext uri="{FF2B5EF4-FFF2-40B4-BE49-F238E27FC236}">
                <a16:creationId xmlns:a16="http://schemas.microsoft.com/office/drawing/2014/main" id="{C1F86404-C7AB-8272-A4D9-E2D8F01349D6}"/>
              </a:ext>
            </a:extLst>
          </p:cNvPr>
          <p:cNvPicPr>
            <a:picLocks noChangeAspect="1"/>
          </p:cNvPicPr>
          <p:nvPr/>
        </p:nvPicPr>
        <p:blipFill>
          <a:blip r:embed="rId3"/>
          <a:stretch>
            <a:fillRect/>
          </a:stretch>
        </p:blipFill>
        <p:spPr>
          <a:xfrm>
            <a:off x="503853" y="1143152"/>
            <a:ext cx="7676535" cy="5614000"/>
          </a:xfrm>
          <a:prstGeom prst="rect">
            <a:avLst/>
          </a:prstGeom>
        </p:spPr>
      </p:pic>
    </p:spTree>
    <p:extLst>
      <p:ext uri="{BB962C8B-B14F-4D97-AF65-F5344CB8AC3E}">
        <p14:creationId xmlns:p14="http://schemas.microsoft.com/office/powerpoint/2010/main" val="4199668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EF8A9-0F03-5520-1A83-4BFD6AE0EE91}"/>
              </a:ext>
            </a:extLst>
          </p:cNvPr>
          <p:cNvSpPr>
            <a:spLocks noGrp="1"/>
          </p:cNvSpPr>
          <p:nvPr>
            <p:ph type="title"/>
          </p:nvPr>
        </p:nvSpPr>
        <p:spPr>
          <a:xfrm>
            <a:off x="1143001" y="443231"/>
            <a:ext cx="9905998" cy="1478570"/>
          </a:xfrm>
        </p:spPr>
        <p:txBody>
          <a:bodyPr/>
          <a:lstStyle/>
          <a:p>
            <a:pPr marL="571500" indent="-571500">
              <a:buFont typeface="Wingdings" panose="05000000000000000000" pitchFamily="2" charset="2"/>
              <a:buChar char="v"/>
            </a:pPr>
            <a:r>
              <a:rPr lang="en-IN" b="1" dirty="0">
                <a:latin typeface="Segoe UI" panose="020B0502040204020203" pitchFamily="34" charset="0"/>
                <a:ea typeface="Calibri" panose="020F0502020204030204" pitchFamily="34" charset="0"/>
                <a:cs typeface="Segoe UI" panose="020B0502040204020203" pitchFamily="34" charset="0"/>
              </a:rPr>
              <a:t>Technical Stack (Technology) :</a:t>
            </a:r>
          </a:p>
        </p:txBody>
      </p:sp>
      <p:sp>
        <p:nvSpPr>
          <p:cNvPr id="3" name="TextBox 2">
            <a:extLst>
              <a:ext uri="{FF2B5EF4-FFF2-40B4-BE49-F238E27FC236}">
                <a16:creationId xmlns:a16="http://schemas.microsoft.com/office/drawing/2014/main" id="{CC8F430A-4754-3C89-AECC-E5B56A560DAE}"/>
              </a:ext>
            </a:extLst>
          </p:cNvPr>
          <p:cNvSpPr txBox="1"/>
          <p:nvPr/>
        </p:nvSpPr>
        <p:spPr>
          <a:xfrm>
            <a:off x="1879134" y="1761688"/>
            <a:ext cx="3523376" cy="2400657"/>
          </a:xfrm>
          <a:prstGeom prst="rect">
            <a:avLst/>
          </a:prstGeom>
          <a:noFill/>
        </p:spPr>
        <p:txBody>
          <a:bodyPr wrap="square" rtlCol="0">
            <a:spAutoFit/>
          </a:bodyPr>
          <a:lstStyle/>
          <a:p>
            <a:pPr marL="342900" indent="-342900">
              <a:buFont typeface="Wingdings" panose="05000000000000000000" pitchFamily="2" charset="2"/>
              <a:buChar char="q"/>
            </a:pPr>
            <a:r>
              <a:rPr lang="en-IN" sz="2400" b="1" dirty="0"/>
              <a:t>Frontend</a:t>
            </a:r>
          </a:p>
          <a:p>
            <a:pPr marL="285750" indent="-285750">
              <a:buFont typeface="Wingdings" panose="05000000000000000000" pitchFamily="2" charset="2"/>
              <a:buChar char="§"/>
            </a:pPr>
            <a:r>
              <a:rPr lang="en-IN" b="1" dirty="0"/>
              <a:t>HTML5</a:t>
            </a:r>
            <a:r>
              <a:rPr lang="en-IN" dirty="0"/>
              <a:t> – Structure of web pages</a:t>
            </a:r>
          </a:p>
          <a:p>
            <a:pPr marL="285750" indent="-285750">
              <a:buFont typeface="Wingdings" panose="05000000000000000000" pitchFamily="2" charset="2"/>
              <a:buChar char="§"/>
            </a:pPr>
            <a:r>
              <a:rPr lang="en-IN" b="1" dirty="0"/>
              <a:t>CSS3</a:t>
            </a:r>
            <a:r>
              <a:rPr lang="en-IN" dirty="0"/>
              <a:t> – Styling and layout</a:t>
            </a:r>
          </a:p>
          <a:p>
            <a:pPr marL="285750" indent="-285750">
              <a:buFont typeface="Wingdings" panose="05000000000000000000" pitchFamily="2" charset="2"/>
              <a:buChar char="§"/>
            </a:pPr>
            <a:r>
              <a:rPr lang="en-IN" b="1" dirty="0"/>
              <a:t>JavaScript (JS)</a:t>
            </a:r>
            <a:r>
              <a:rPr lang="en-IN" dirty="0"/>
              <a:t> – Client-side interaction</a:t>
            </a:r>
          </a:p>
          <a:p>
            <a:pPr marL="285750" indent="-285750">
              <a:buFont typeface="Wingdings" panose="05000000000000000000" pitchFamily="2" charset="2"/>
              <a:buChar char="§"/>
            </a:pPr>
            <a:r>
              <a:rPr lang="en-IN" b="1" dirty="0"/>
              <a:t>Bootstrap</a:t>
            </a:r>
            <a:r>
              <a:rPr lang="en-IN" dirty="0"/>
              <a:t> – Responsive UI Framework</a:t>
            </a:r>
          </a:p>
          <a:p>
            <a:endParaRPr lang="en-IN" dirty="0"/>
          </a:p>
        </p:txBody>
      </p:sp>
      <p:sp>
        <p:nvSpPr>
          <p:cNvPr id="6" name="Rectangle: Rounded Corners 5">
            <a:extLst>
              <a:ext uri="{FF2B5EF4-FFF2-40B4-BE49-F238E27FC236}">
                <a16:creationId xmlns:a16="http://schemas.microsoft.com/office/drawing/2014/main" id="{EF82A661-4EA8-D8FC-EB3C-7C5B4315CDBD}"/>
              </a:ext>
            </a:extLst>
          </p:cNvPr>
          <p:cNvSpPr/>
          <p:nvPr/>
        </p:nvSpPr>
        <p:spPr>
          <a:xfrm>
            <a:off x="1774272" y="1662425"/>
            <a:ext cx="3733100" cy="230697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4148DD2B-1CF1-E065-DDB7-D3C4B580408B}"/>
              </a:ext>
            </a:extLst>
          </p:cNvPr>
          <p:cNvSpPr/>
          <p:nvPr/>
        </p:nvSpPr>
        <p:spPr>
          <a:xfrm>
            <a:off x="5612234" y="1662425"/>
            <a:ext cx="3045205" cy="230697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CB33F2CE-D010-FD0A-A94B-83BDD9B1B2AD}"/>
              </a:ext>
            </a:extLst>
          </p:cNvPr>
          <p:cNvSpPr txBox="1"/>
          <p:nvPr/>
        </p:nvSpPr>
        <p:spPr>
          <a:xfrm>
            <a:off x="5818464" y="1761688"/>
            <a:ext cx="2838975" cy="2123658"/>
          </a:xfrm>
          <a:prstGeom prst="rect">
            <a:avLst/>
          </a:prstGeom>
          <a:noFill/>
        </p:spPr>
        <p:txBody>
          <a:bodyPr wrap="square">
            <a:spAutoFit/>
          </a:bodyPr>
          <a:lstStyle/>
          <a:p>
            <a:pPr marL="342900" indent="-342900">
              <a:buFont typeface="Wingdings" panose="05000000000000000000" pitchFamily="2" charset="2"/>
              <a:buChar char="q"/>
            </a:pPr>
            <a:r>
              <a:rPr lang="en-IN" sz="2400" b="1" dirty="0"/>
              <a:t>Backend</a:t>
            </a:r>
          </a:p>
          <a:p>
            <a:pPr marL="285750" indent="-285750">
              <a:buFont typeface="Wingdings" panose="05000000000000000000" pitchFamily="2" charset="2"/>
              <a:buChar char="§"/>
            </a:pPr>
            <a:r>
              <a:rPr lang="en-IN" b="1" dirty="0"/>
              <a:t>Flask</a:t>
            </a:r>
            <a:r>
              <a:rPr lang="en-IN" dirty="0"/>
              <a:t> – Python Web Framework(Lightweight)</a:t>
            </a:r>
          </a:p>
          <a:p>
            <a:pPr marL="285750" indent="-285750">
              <a:buFont typeface="Wingdings" panose="05000000000000000000" pitchFamily="2" charset="2"/>
              <a:buChar char="§"/>
            </a:pPr>
            <a:r>
              <a:rPr lang="en-IN" b="1" dirty="0"/>
              <a:t>TensorFlow</a:t>
            </a:r>
            <a:r>
              <a:rPr lang="en-IN" dirty="0"/>
              <a:t> – Deep Learning Framework</a:t>
            </a:r>
          </a:p>
          <a:p>
            <a:pPr marL="285750" indent="-285750">
              <a:buFont typeface="Wingdings" panose="05000000000000000000" pitchFamily="2" charset="2"/>
              <a:buChar char="§"/>
            </a:pPr>
            <a:r>
              <a:rPr lang="en-IN" b="1" dirty="0"/>
              <a:t>Keras</a:t>
            </a:r>
            <a:r>
              <a:rPr lang="en-IN" dirty="0"/>
              <a:t> – High-level API for Neural Networks</a:t>
            </a:r>
          </a:p>
        </p:txBody>
      </p:sp>
      <p:sp>
        <p:nvSpPr>
          <p:cNvPr id="15" name="TextBox 14">
            <a:extLst>
              <a:ext uri="{FF2B5EF4-FFF2-40B4-BE49-F238E27FC236}">
                <a16:creationId xmlns:a16="http://schemas.microsoft.com/office/drawing/2014/main" id="{92C8F4CF-4FAE-C02B-40E3-9D172EECBF79}"/>
              </a:ext>
            </a:extLst>
          </p:cNvPr>
          <p:cNvSpPr txBox="1"/>
          <p:nvPr/>
        </p:nvSpPr>
        <p:spPr>
          <a:xfrm>
            <a:off x="9048479" y="1778467"/>
            <a:ext cx="2315362" cy="1938992"/>
          </a:xfrm>
          <a:prstGeom prst="rect">
            <a:avLst/>
          </a:prstGeom>
          <a:noFill/>
        </p:spPr>
        <p:txBody>
          <a:bodyPr wrap="square" rtlCol="0">
            <a:spAutoFit/>
          </a:bodyPr>
          <a:lstStyle/>
          <a:p>
            <a:pPr marL="342900" indent="-342900">
              <a:buFont typeface="Wingdings" panose="05000000000000000000" pitchFamily="2" charset="2"/>
              <a:buChar char="q"/>
            </a:pPr>
            <a:r>
              <a:rPr lang="en-IN" sz="2400" b="1" dirty="0"/>
              <a:t>Platform </a:t>
            </a:r>
          </a:p>
          <a:p>
            <a:pPr marL="285750" indent="-285750">
              <a:buFont typeface="Wingdings" panose="05000000000000000000" pitchFamily="2" charset="2"/>
              <a:buChar char="§"/>
            </a:pPr>
            <a:r>
              <a:rPr lang="en-IN" b="1" dirty="0"/>
              <a:t>Google Colab (GPU Acceleration)</a:t>
            </a:r>
            <a:endParaRPr lang="en-IN" dirty="0"/>
          </a:p>
          <a:p>
            <a:pPr marL="285750" indent="-285750">
              <a:buFont typeface="Wingdings" panose="05000000000000000000" pitchFamily="2" charset="2"/>
              <a:buChar char="§"/>
            </a:pPr>
            <a:r>
              <a:rPr lang="en-IN" b="1" dirty="0"/>
              <a:t>Google Drive</a:t>
            </a:r>
            <a:endParaRPr lang="en-IN" dirty="0"/>
          </a:p>
          <a:p>
            <a:pPr marL="285750" indent="-285750">
              <a:buFont typeface="Wingdings" panose="05000000000000000000" pitchFamily="2" charset="2"/>
              <a:buChar char="§"/>
            </a:pPr>
            <a:r>
              <a:rPr lang="en-IN" b="1" dirty="0"/>
              <a:t>VS Code</a:t>
            </a:r>
            <a:endParaRPr lang="en-IN" dirty="0"/>
          </a:p>
          <a:p>
            <a:endParaRPr lang="en-IN" sz="2400" b="1" dirty="0"/>
          </a:p>
        </p:txBody>
      </p:sp>
      <p:sp>
        <p:nvSpPr>
          <p:cNvPr id="16" name="Rectangle: Rounded Corners 15">
            <a:extLst>
              <a:ext uri="{FF2B5EF4-FFF2-40B4-BE49-F238E27FC236}">
                <a16:creationId xmlns:a16="http://schemas.microsoft.com/office/drawing/2014/main" id="{4DD80816-A6EA-8922-D753-0D0CA85D6367}"/>
              </a:ext>
            </a:extLst>
          </p:cNvPr>
          <p:cNvSpPr/>
          <p:nvPr/>
        </p:nvSpPr>
        <p:spPr>
          <a:xfrm>
            <a:off x="8790263" y="1662424"/>
            <a:ext cx="2890007" cy="230697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204EBDEC-FFAE-631E-43B1-FB201C56D160}"/>
              </a:ext>
            </a:extLst>
          </p:cNvPr>
          <p:cNvSpPr/>
          <p:nvPr/>
        </p:nvSpPr>
        <p:spPr>
          <a:xfrm>
            <a:off x="3250035" y="4093662"/>
            <a:ext cx="3846352" cy="230697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89448DE4-7E52-4865-48DC-6DCED8DCB356}"/>
              </a:ext>
            </a:extLst>
          </p:cNvPr>
          <p:cNvSpPr txBox="1"/>
          <p:nvPr/>
        </p:nvSpPr>
        <p:spPr>
          <a:xfrm>
            <a:off x="3373996" y="4162345"/>
            <a:ext cx="3827223" cy="830997"/>
          </a:xfrm>
          <a:prstGeom prst="rect">
            <a:avLst/>
          </a:prstGeom>
          <a:noFill/>
        </p:spPr>
        <p:txBody>
          <a:bodyPr wrap="square">
            <a:spAutoFit/>
          </a:bodyPr>
          <a:lstStyle/>
          <a:p>
            <a:pPr marL="285750" indent="-285750">
              <a:buFont typeface="Wingdings" panose="05000000000000000000" pitchFamily="2" charset="2"/>
              <a:buChar char="q"/>
            </a:pPr>
            <a:r>
              <a:rPr lang="en-IN" sz="2400" b="1" dirty="0"/>
              <a:t> </a:t>
            </a:r>
            <a:r>
              <a:rPr lang="en-US" sz="2400" dirty="0"/>
              <a:t>Tools and Libraries Used   for Model Training:</a:t>
            </a:r>
            <a:endParaRPr lang="en-IN" sz="2400" b="1" dirty="0"/>
          </a:p>
        </p:txBody>
      </p:sp>
      <p:sp>
        <p:nvSpPr>
          <p:cNvPr id="36" name="Rectangle 12">
            <a:extLst>
              <a:ext uri="{FF2B5EF4-FFF2-40B4-BE49-F238E27FC236}">
                <a16:creationId xmlns:a16="http://schemas.microsoft.com/office/drawing/2014/main" id="{7F9CB672-23B9-C633-7484-C9E6F25137FA}"/>
              </a:ext>
            </a:extLst>
          </p:cNvPr>
          <p:cNvSpPr>
            <a:spLocks noChangeArrowheads="1"/>
          </p:cNvSpPr>
          <p:nvPr/>
        </p:nvSpPr>
        <p:spPr bwMode="auto">
          <a:xfrm>
            <a:off x="3743106" y="4856878"/>
            <a:ext cx="176426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Keras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altLang="en-US" dirty="0">
                <a:latin typeface="Arial" panose="020B0604020202020204" pitchFamily="34" charset="0"/>
              </a:rPr>
              <a:t>EffientNetB4</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indent="-285750" defTabSz="914400" eaLnBrk="0" fontAlgn="base" hangingPunct="0">
              <a:spcBef>
                <a:spcPct val="0"/>
              </a:spcBef>
              <a:spcAft>
                <a:spcPct val="0"/>
              </a:spcAft>
              <a:buFont typeface="Wingdings" panose="05000000000000000000" pitchFamily="2" charset="2"/>
              <a:buChar char="§"/>
            </a:pPr>
            <a:r>
              <a:rPr lang="en-US" altLang="en-US" dirty="0">
                <a:latin typeface="Arial" panose="020B0604020202020204" pitchFamily="34" charset="0"/>
              </a:rPr>
              <a:t>TensorFlow</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NumPy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Matplotlib</a:t>
            </a:r>
          </a:p>
        </p:txBody>
      </p:sp>
      <p:sp>
        <p:nvSpPr>
          <p:cNvPr id="38" name="Rectangle: Rounded Corners 37">
            <a:extLst>
              <a:ext uri="{FF2B5EF4-FFF2-40B4-BE49-F238E27FC236}">
                <a16:creationId xmlns:a16="http://schemas.microsoft.com/office/drawing/2014/main" id="{2A965C5E-A0C6-F69F-C7AB-A126EE13DE43}"/>
              </a:ext>
            </a:extLst>
          </p:cNvPr>
          <p:cNvSpPr/>
          <p:nvPr/>
        </p:nvSpPr>
        <p:spPr>
          <a:xfrm>
            <a:off x="7432849" y="4068660"/>
            <a:ext cx="3827223" cy="230697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5FA2925F-29F3-8F9D-3D61-95146095F922}"/>
              </a:ext>
            </a:extLst>
          </p:cNvPr>
          <p:cNvSpPr txBox="1"/>
          <p:nvPr/>
        </p:nvSpPr>
        <p:spPr>
          <a:xfrm>
            <a:off x="7537681" y="4162345"/>
            <a:ext cx="3645969" cy="2123658"/>
          </a:xfrm>
          <a:prstGeom prst="rect">
            <a:avLst/>
          </a:prstGeom>
          <a:noFill/>
        </p:spPr>
        <p:txBody>
          <a:bodyPr wrap="square">
            <a:spAutoFit/>
          </a:bodyPr>
          <a:lstStyle/>
          <a:p>
            <a:pPr marL="342900" indent="-342900">
              <a:buFont typeface="Wingdings" panose="05000000000000000000" pitchFamily="2" charset="2"/>
              <a:buChar char="q"/>
            </a:pPr>
            <a:r>
              <a:rPr lang="en-US" sz="2400" b="1" dirty="0"/>
              <a:t>Dataset</a:t>
            </a:r>
          </a:p>
          <a:p>
            <a:pPr marL="285750" indent="-285750">
              <a:buFont typeface="Wingdings" panose="05000000000000000000" pitchFamily="2" charset="2"/>
              <a:buChar char="§"/>
            </a:pPr>
            <a:r>
              <a:rPr lang="en-US" dirty="0"/>
              <a:t>Plant Leaf Image Dataset</a:t>
            </a:r>
          </a:p>
          <a:p>
            <a:pPr marL="285750" indent="-285750">
              <a:buFont typeface="Wingdings" panose="05000000000000000000" pitchFamily="2" charset="2"/>
              <a:buChar char="§"/>
            </a:pPr>
            <a:r>
              <a:rPr lang="en-US" dirty="0"/>
              <a:t>61,000+ Images</a:t>
            </a:r>
          </a:p>
          <a:p>
            <a:pPr marL="285750" indent="-285750">
              <a:buFont typeface="Wingdings" panose="05000000000000000000" pitchFamily="2" charset="2"/>
              <a:buChar char="§"/>
            </a:pPr>
            <a:r>
              <a:rPr lang="en-US" dirty="0"/>
              <a:t>39 Disease Classes</a:t>
            </a:r>
          </a:p>
          <a:p>
            <a:pPr marL="285750" indent="-285750">
              <a:buFont typeface="Wingdings" panose="05000000000000000000" pitchFamily="2" charset="2"/>
              <a:buChar char="§"/>
            </a:pPr>
            <a:r>
              <a:rPr lang="en-US" dirty="0"/>
              <a:t>14 Plants</a:t>
            </a:r>
          </a:p>
          <a:p>
            <a:pPr marL="285750" indent="-285750">
              <a:buFont typeface="Wingdings" panose="05000000000000000000" pitchFamily="2" charset="2"/>
              <a:buChar char="§"/>
            </a:pPr>
            <a:r>
              <a:rPr lang="en-US" dirty="0"/>
              <a:t>Folder-Based Structured Dataset</a:t>
            </a:r>
            <a:br>
              <a:rPr lang="en-US" dirty="0"/>
            </a:br>
            <a:endParaRPr lang="en-US" dirty="0"/>
          </a:p>
        </p:txBody>
      </p:sp>
    </p:spTree>
    <p:extLst>
      <p:ext uri="{BB962C8B-B14F-4D97-AF65-F5344CB8AC3E}">
        <p14:creationId xmlns:p14="http://schemas.microsoft.com/office/powerpoint/2010/main" val="3006726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CC6F9-A1CC-DDAF-5658-2B15DC89B497}"/>
              </a:ext>
            </a:extLst>
          </p:cNvPr>
          <p:cNvSpPr>
            <a:spLocks noGrp="1"/>
          </p:cNvSpPr>
          <p:nvPr>
            <p:ph type="title"/>
          </p:nvPr>
        </p:nvSpPr>
        <p:spPr>
          <a:xfrm>
            <a:off x="938645" y="363683"/>
            <a:ext cx="9905998" cy="1478570"/>
          </a:xfrm>
        </p:spPr>
        <p:txBody>
          <a:bodyPr/>
          <a:lstStyle/>
          <a:p>
            <a:pPr marL="571500" indent="-571500">
              <a:buFont typeface="Wingdings" panose="05000000000000000000" pitchFamily="2" charset="2"/>
              <a:buChar char="v"/>
            </a:pPr>
            <a:r>
              <a:rPr lang="en-US" b="1" dirty="0">
                <a:latin typeface="Segoe UI" panose="020B0502040204020203" pitchFamily="34" charset="0"/>
                <a:ea typeface="Calibri" panose="020F0502020204030204" pitchFamily="34" charset="0"/>
                <a:cs typeface="Segoe UI" panose="020B0502040204020203" pitchFamily="34" charset="0"/>
              </a:rPr>
              <a:t>training accuracy and validation loss :</a:t>
            </a:r>
            <a:endParaRPr lang="en-IN" b="1" dirty="0">
              <a:latin typeface="Segoe UI" panose="020B0502040204020203" pitchFamily="34" charset="0"/>
              <a:ea typeface="Calibri" panose="020F0502020204030204" pitchFamily="34" charset="0"/>
              <a:cs typeface="Segoe UI" panose="020B0502040204020203" pitchFamily="34" charset="0"/>
            </a:endParaRPr>
          </a:p>
        </p:txBody>
      </p:sp>
      <p:pic>
        <p:nvPicPr>
          <p:cNvPr id="3" name="Picture 2">
            <a:extLst>
              <a:ext uri="{FF2B5EF4-FFF2-40B4-BE49-F238E27FC236}">
                <a16:creationId xmlns:a16="http://schemas.microsoft.com/office/drawing/2014/main" id="{F1AE7971-1A16-893A-4556-72D550C7A91B}"/>
              </a:ext>
            </a:extLst>
          </p:cNvPr>
          <p:cNvPicPr>
            <a:picLocks noChangeAspect="1"/>
          </p:cNvPicPr>
          <p:nvPr/>
        </p:nvPicPr>
        <p:blipFill>
          <a:blip r:embed="rId2"/>
          <a:stretch>
            <a:fillRect/>
          </a:stretch>
        </p:blipFill>
        <p:spPr>
          <a:xfrm>
            <a:off x="1631373" y="1714500"/>
            <a:ext cx="9372600" cy="4779817"/>
          </a:xfrm>
          <a:prstGeom prst="rect">
            <a:avLst/>
          </a:prstGeom>
        </p:spPr>
      </p:pic>
    </p:spTree>
    <p:extLst>
      <p:ext uri="{BB962C8B-B14F-4D97-AF65-F5344CB8AC3E}">
        <p14:creationId xmlns:p14="http://schemas.microsoft.com/office/powerpoint/2010/main" val="762242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759B6-1BA2-24FE-AC9F-45896D50D053}"/>
              </a:ext>
            </a:extLst>
          </p:cNvPr>
          <p:cNvSpPr>
            <a:spLocks noGrp="1"/>
          </p:cNvSpPr>
          <p:nvPr>
            <p:ph type="title"/>
          </p:nvPr>
        </p:nvSpPr>
        <p:spPr>
          <a:xfrm>
            <a:off x="1049973" y="0"/>
            <a:ext cx="9905998" cy="1062990"/>
          </a:xfrm>
        </p:spPr>
        <p:txBody>
          <a:bodyPr/>
          <a:lstStyle/>
          <a:p>
            <a:pPr marL="571500" indent="-571500">
              <a:buFont typeface="Wingdings" panose="05000000000000000000" pitchFamily="2" charset="2"/>
              <a:buChar char="v"/>
            </a:pPr>
            <a:r>
              <a:rPr lang="en-US" b="1" dirty="0">
                <a:latin typeface="Segoe UI" panose="020B0502040204020203" pitchFamily="34" charset="0"/>
                <a:cs typeface="Segoe UI" panose="020B0502040204020203" pitchFamily="34" charset="0"/>
              </a:rPr>
              <a:t>Result :</a:t>
            </a:r>
            <a:endParaRPr lang="en-IN" b="1" dirty="0">
              <a:latin typeface="Segoe UI" panose="020B0502040204020203" pitchFamily="34" charset="0"/>
              <a:cs typeface="Segoe UI" panose="020B0502040204020203" pitchFamily="34" charset="0"/>
            </a:endParaRPr>
          </a:p>
        </p:txBody>
      </p:sp>
      <p:pic>
        <p:nvPicPr>
          <p:cNvPr id="6" name="Picture 5">
            <a:extLst>
              <a:ext uri="{FF2B5EF4-FFF2-40B4-BE49-F238E27FC236}">
                <a16:creationId xmlns:a16="http://schemas.microsoft.com/office/drawing/2014/main" id="{6FF2DF6D-DC32-8058-436B-55F9A4657FD6}"/>
              </a:ext>
            </a:extLst>
          </p:cNvPr>
          <p:cNvPicPr>
            <a:picLocks noChangeAspect="1"/>
          </p:cNvPicPr>
          <p:nvPr/>
        </p:nvPicPr>
        <p:blipFill>
          <a:blip r:embed="rId3"/>
          <a:stretch>
            <a:fillRect/>
          </a:stretch>
        </p:blipFill>
        <p:spPr>
          <a:xfrm>
            <a:off x="1329336" y="850951"/>
            <a:ext cx="9905998" cy="5768026"/>
          </a:xfrm>
          <a:prstGeom prst="rect">
            <a:avLst/>
          </a:prstGeom>
        </p:spPr>
      </p:pic>
    </p:spTree>
    <p:extLst>
      <p:ext uri="{BB962C8B-B14F-4D97-AF65-F5344CB8AC3E}">
        <p14:creationId xmlns:p14="http://schemas.microsoft.com/office/powerpoint/2010/main" val="2244066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C0C72-9993-FADB-DEA7-33E24F347774}"/>
              </a:ext>
            </a:extLst>
          </p:cNvPr>
          <p:cNvSpPr>
            <a:spLocks noGrp="1"/>
          </p:cNvSpPr>
          <p:nvPr>
            <p:ph type="title"/>
          </p:nvPr>
        </p:nvSpPr>
        <p:spPr>
          <a:xfrm>
            <a:off x="1058142" y="662621"/>
            <a:ext cx="9905998" cy="1478570"/>
          </a:xfrm>
        </p:spPr>
        <p:txBody>
          <a:bodyPr/>
          <a:lstStyle/>
          <a:p>
            <a:pPr marL="571500" indent="-571500">
              <a:buFont typeface="Wingdings" panose="05000000000000000000" pitchFamily="2" charset="2"/>
              <a:buChar char="v"/>
            </a:pPr>
            <a:r>
              <a:rPr lang="en-IN" sz="3800" b="1" dirty="0">
                <a:latin typeface="Segoe UI" panose="020B0502040204020203" pitchFamily="34" charset="0"/>
                <a:ea typeface="Calibri" panose="020F0502020204030204" pitchFamily="34" charset="0"/>
                <a:cs typeface="Segoe UI" panose="020B0502040204020203" pitchFamily="34" charset="0"/>
              </a:rPr>
              <a:t>BENEFITS</a:t>
            </a:r>
            <a:r>
              <a:rPr lang="en-IN" b="1" dirty="0">
                <a:latin typeface="Segoe UI" panose="020B0502040204020203" pitchFamily="34" charset="0"/>
                <a:ea typeface="Calibri" panose="020F0502020204030204" pitchFamily="34" charset="0"/>
                <a:cs typeface="Segoe UI" panose="020B0502040204020203" pitchFamily="34" charset="0"/>
              </a:rPr>
              <a:t> :</a:t>
            </a:r>
            <a:br>
              <a:rPr lang="en-IN" sz="3200" b="1" dirty="0">
                <a:latin typeface="Calibri" panose="020F0502020204030204" pitchFamily="34" charset="0"/>
                <a:ea typeface="Calibri" panose="020F0502020204030204" pitchFamily="34" charset="0"/>
                <a:cs typeface="Calibri" panose="020F0502020204030204" pitchFamily="34" charset="0"/>
              </a:rPr>
            </a:br>
            <a:endParaRPr lang="en-IN" dirty="0"/>
          </a:p>
        </p:txBody>
      </p:sp>
      <p:sp>
        <p:nvSpPr>
          <p:cNvPr id="3" name="TextBox 2">
            <a:extLst>
              <a:ext uri="{FF2B5EF4-FFF2-40B4-BE49-F238E27FC236}">
                <a16:creationId xmlns:a16="http://schemas.microsoft.com/office/drawing/2014/main" id="{494D3271-FE36-2FF9-50E0-5A0381E8269B}"/>
              </a:ext>
            </a:extLst>
          </p:cNvPr>
          <p:cNvSpPr txBox="1"/>
          <p:nvPr/>
        </p:nvSpPr>
        <p:spPr>
          <a:xfrm>
            <a:off x="1423558" y="1958249"/>
            <a:ext cx="10380519" cy="3046988"/>
          </a:xfrm>
          <a:prstGeom prst="rect">
            <a:avLst/>
          </a:prstGeom>
          <a:noFill/>
        </p:spPr>
        <p:txBody>
          <a:bodyPr wrap="square" rtlCol="0">
            <a:spAutoFit/>
          </a:bodyPr>
          <a:lstStyle/>
          <a:p>
            <a:pPr marL="285750" indent="-285750" algn="just">
              <a:buFont typeface="Wingdings" panose="05000000000000000000" pitchFamily="2" charset="2"/>
              <a:buChar char="q"/>
            </a:pPr>
            <a:r>
              <a:rPr lang="en-US" sz="2400" dirty="0"/>
              <a:t> Early detection of plant diseases</a:t>
            </a:r>
          </a:p>
          <a:p>
            <a:pPr marL="285750" indent="-285750" algn="just">
              <a:buFont typeface="Wingdings" panose="05000000000000000000" pitchFamily="2" charset="2"/>
              <a:buChar char="q"/>
            </a:pPr>
            <a:r>
              <a:rPr lang="en-US" sz="2400" dirty="0"/>
              <a:t> Reduces crop loss and financial damage</a:t>
            </a:r>
          </a:p>
          <a:p>
            <a:pPr marL="285750" indent="-285750" algn="just">
              <a:buFont typeface="Wingdings" panose="05000000000000000000" pitchFamily="2" charset="2"/>
              <a:buChar char="q"/>
            </a:pPr>
            <a:r>
              <a:rPr lang="en-US" sz="2400" dirty="0"/>
              <a:t> Supports farmers with fast diagnosis</a:t>
            </a:r>
          </a:p>
          <a:p>
            <a:pPr marL="285750" indent="-285750" algn="just">
              <a:buFont typeface="Wingdings" panose="05000000000000000000" pitchFamily="2" charset="2"/>
              <a:buChar char="q"/>
            </a:pPr>
            <a:r>
              <a:rPr lang="en-US" sz="2400" dirty="0"/>
              <a:t> Minimizes incorrect pesticide usage</a:t>
            </a:r>
          </a:p>
          <a:p>
            <a:pPr marL="285750" indent="-285750" algn="just">
              <a:buFont typeface="Wingdings" panose="05000000000000000000" pitchFamily="2" charset="2"/>
              <a:buChar char="q"/>
            </a:pPr>
            <a:r>
              <a:rPr lang="en-US" sz="2400" dirty="0"/>
              <a:t> Cost-effective and scalable AI solution</a:t>
            </a:r>
          </a:p>
          <a:p>
            <a:pPr algn="just"/>
            <a:endParaRPr lang="en-US" sz="2400" dirty="0"/>
          </a:p>
          <a:p>
            <a:pPr algn="just"/>
            <a:endParaRPr lang="en-IN" sz="2400" dirty="0"/>
          </a:p>
          <a:p>
            <a:pPr algn="just"/>
            <a:endParaRPr lang="en-IN" sz="2400" dirty="0"/>
          </a:p>
        </p:txBody>
      </p:sp>
      <p:sp>
        <p:nvSpPr>
          <p:cNvPr id="5" name="TextBox 4">
            <a:extLst>
              <a:ext uri="{FF2B5EF4-FFF2-40B4-BE49-F238E27FC236}">
                <a16:creationId xmlns:a16="http://schemas.microsoft.com/office/drawing/2014/main" id="{47400881-99C9-38E9-8DF2-F5E15D916FF6}"/>
              </a:ext>
            </a:extLst>
          </p:cNvPr>
          <p:cNvSpPr txBox="1"/>
          <p:nvPr/>
        </p:nvSpPr>
        <p:spPr>
          <a:xfrm>
            <a:off x="6011141" y="905642"/>
            <a:ext cx="6099462" cy="954107"/>
          </a:xfrm>
          <a:prstGeom prst="rect">
            <a:avLst/>
          </a:prstGeom>
          <a:noFill/>
        </p:spPr>
        <p:txBody>
          <a:bodyPr wrap="square">
            <a:spAutoFit/>
          </a:bodyPr>
          <a:lstStyle/>
          <a:p>
            <a:pPr marL="571500" indent="-571500">
              <a:buFont typeface="Wingdings" panose="05000000000000000000" pitchFamily="2" charset="2"/>
              <a:buChar char="v"/>
            </a:pPr>
            <a:r>
              <a:rPr lang="en-IN" sz="3800" b="1" dirty="0">
                <a:latin typeface="Segoe UI" panose="020B0502040204020203" pitchFamily="34" charset="0"/>
                <a:ea typeface="Calibri" panose="020F0502020204030204" pitchFamily="34" charset="0"/>
                <a:cs typeface="Segoe UI" panose="020B0502040204020203" pitchFamily="34" charset="0"/>
              </a:rPr>
              <a:t>Future Enhancement :</a:t>
            </a:r>
            <a:r>
              <a:rPr lang="en-IN" b="1" dirty="0">
                <a:latin typeface="Segoe UI" panose="020B0502040204020203" pitchFamily="34" charset="0"/>
                <a:ea typeface="Calibri" panose="020F0502020204030204" pitchFamily="34" charset="0"/>
                <a:cs typeface="Segoe UI" panose="020B0502040204020203" pitchFamily="34" charset="0"/>
              </a:rPr>
              <a:t> </a:t>
            </a:r>
            <a:br>
              <a:rPr lang="en-IN" sz="1400" b="1" dirty="0">
                <a:latin typeface="Calibri" panose="020F0502020204030204" pitchFamily="34" charset="0"/>
                <a:ea typeface="Calibri" panose="020F0502020204030204" pitchFamily="34" charset="0"/>
                <a:cs typeface="Calibri" panose="020F0502020204030204" pitchFamily="34" charset="0"/>
              </a:rPr>
            </a:br>
            <a:endParaRPr lang="en-IN" dirty="0"/>
          </a:p>
        </p:txBody>
      </p:sp>
      <p:sp>
        <p:nvSpPr>
          <p:cNvPr id="6" name="Rectangle: Rounded Corners 5">
            <a:extLst>
              <a:ext uri="{FF2B5EF4-FFF2-40B4-BE49-F238E27FC236}">
                <a16:creationId xmlns:a16="http://schemas.microsoft.com/office/drawing/2014/main" id="{D0B517A6-1990-595D-3D59-55B5EBD7B72F}"/>
              </a:ext>
            </a:extLst>
          </p:cNvPr>
          <p:cNvSpPr/>
          <p:nvPr/>
        </p:nvSpPr>
        <p:spPr>
          <a:xfrm>
            <a:off x="1155118" y="1844003"/>
            <a:ext cx="5683827" cy="2466052"/>
          </a:xfrm>
          <a:prstGeom prst="roundRect">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noFill/>
            </a:endParaRPr>
          </a:p>
        </p:txBody>
      </p:sp>
      <p:sp>
        <p:nvSpPr>
          <p:cNvPr id="7" name="Rectangle: Rounded Corners 6">
            <a:extLst>
              <a:ext uri="{FF2B5EF4-FFF2-40B4-BE49-F238E27FC236}">
                <a16:creationId xmlns:a16="http://schemas.microsoft.com/office/drawing/2014/main" id="{2A8E4049-7244-1B84-D08D-7F93E663D5AF}"/>
              </a:ext>
            </a:extLst>
          </p:cNvPr>
          <p:cNvSpPr/>
          <p:nvPr/>
        </p:nvSpPr>
        <p:spPr>
          <a:xfrm>
            <a:off x="7205229" y="1824793"/>
            <a:ext cx="4232564" cy="2466052"/>
          </a:xfrm>
          <a:prstGeom prst="roundRect">
            <a:avLst/>
          </a:prstGeom>
          <a:no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noFill/>
            </a:endParaRPr>
          </a:p>
        </p:txBody>
      </p:sp>
      <p:sp>
        <p:nvSpPr>
          <p:cNvPr id="8" name="TextBox 7">
            <a:extLst>
              <a:ext uri="{FF2B5EF4-FFF2-40B4-BE49-F238E27FC236}">
                <a16:creationId xmlns:a16="http://schemas.microsoft.com/office/drawing/2014/main" id="{AA5F226A-A17F-2C35-76D4-EB25C5D0E740}"/>
              </a:ext>
            </a:extLst>
          </p:cNvPr>
          <p:cNvSpPr txBox="1"/>
          <p:nvPr/>
        </p:nvSpPr>
        <p:spPr>
          <a:xfrm>
            <a:off x="7387937" y="2097088"/>
            <a:ext cx="3576203" cy="1938992"/>
          </a:xfrm>
          <a:prstGeom prst="rect">
            <a:avLst/>
          </a:prstGeom>
          <a:noFill/>
        </p:spPr>
        <p:txBody>
          <a:bodyPr wrap="square" rtlCol="0">
            <a:spAutoFit/>
          </a:bodyPr>
          <a:lstStyle/>
          <a:p>
            <a:pPr marL="342900" indent="-342900">
              <a:buFont typeface="Wingdings" panose="05000000000000000000" pitchFamily="2" charset="2"/>
              <a:buChar char="q"/>
            </a:pPr>
            <a:r>
              <a:rPr lang="en-US" sz="2400" dirty="0"/>
              <a:t>Model Accuracy Improvement </a:t>
            </a:r>
          </a:p>
          <a:p>
            <a:pPr marL="342900" indent="-342900">
              <a:buFont typeface="Wingdings" panose="05000000000000000000" pitchFamily="2" charset="2"/>
              <a:buChar char="q"/>
            </a:pPr>
            <a:r>
              <a:rPr lang="en-US" sz="2400" dirty="0"/>
              <a:t>Online Deployment</a:t>
            </a:r>
          </a:p>
          <a:p>
            <a:pPr marL="342900" indent="-342900">
              <a:buFont typeface="Wingdings" panose="05000000000000000000" pitchFamily="2" charset="2"/>
              <a:buChar char="q"/>
            </a:pPr>
            <a:r>
              <a:rPr lang="en-US" sz="2400" dirty="0"/>
              <a:t>Cloud-Based Dashboard</a:t>
            </a:r>
            <a:br>
              <a:rPr lang="en-US" sz="2400" dirty="0"/>
            </a:br>
            <a:endParaRPr lang="en-IN" sz="2400" dirty="0"/>
          </a:p>
        </p:txBody>
      </p:sp>
    </p:spTree>
    <p:extLst>
      <p:ext uri="{BB962C8B-B14F-4D97-AF65-F5344CB8AC3E}">
        <p14:creationId xmlns:p14="http://schemas.microsoft.com/office/powerpoint/2010/main" val="3699033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5936672-DBB4-3050-B9AA-B029EEC56165}"/>
              </a:ext>
            </a:extLst>
          </p:cNvPr>
          <p:cNvSpPr>
            <a:spLocks noGrp="1"/>
          </p:cNvSpPr>
          <p:nvPr>
            <p:ph type="title"/>
          </p:nvPr>
        </p:nvSpPr>
        <p:spPr>
          <a:xfrm>
            <a:off x="1143000" y="72736"/>
            <a:ext cx="10536381" cy="6702137"/>
          </a:xfrm>
        </p:spPr>
        <p:txBody>
          <a:bodyPr>
            <a:normAutofit/>
          </a:bodyPr>
          <a:lstStyle/>
          <a:p>
            <a:pPr marL="571500" indent="-571500">
              <a:buFont typeface="Wingdings" panose="05000000000000000000" pitchFamily="2" charset="2"/>
              <a:buChar char="v"/>
            </a:pPr>
            <a:r>
              <a:rPr lang="en-IN" b="1" dirty="0">
                <a:latin typeface="Segoe UI" panose="020B0502040204020203" pitchFamily="34" charset="0"/>
                <a:cs typeface="Segoe UI" panose="020B0502040204020203" pitchFamily="34" charset="0"/>
              </a:rPr>
              <a:t>References :</a:t>
            </a:r>
            <a:br>
              <a:rPr lang="en-IN" sz="3300" b="1" dirty="0"/>
            </a:br>
            <a:br>
              <a:rPr lang="en-IN" sz="2800" b="1" dirty="0"/>
            </a:br>
            <a:r>
              <a:rPr lang="en-IN" sz="2800" dirty="0"/>
              <a:t>1</a:t>
            </a:r>
            <a:r>
              <a:rPr lang="en-IN" sz="2800" b="1" dirty="0"/>
              <a:t>. </a:t>
            </a:r>
            <a:r>
              <a:rPr lang="en-IN" sz="2800" dirty="0"/>
              <a:t>Dataset Used Source</a:t>
            </a:r>
            <a:r>
              <a:rPr lang="en-IN" sz="2800" b="1" dirty="0"/>
              <a:t>:</a:t>
            </a:r>
            <a:r>
              <a:rPr lang="en-IN" sz="2800" dirty="0"/>
              <a:t> Mendeley Data </a:t>
            </a:r>
            <a:br>
              <a:rPr lang="en-IN" sz="2800" dirty="0"/>
            </a:br>
            <a:r>
              <a:rPr lang="en-IN" sz="2800" dirty="0"/>
              <a:t>    </a:t>
            </a:r>
            <a:r>
              <a:rPr lang="en-IN" sz="2800" dirty="0">
                <a:hlinkClick r:id="rId2"/>
              </a:rPr>
              <a:t>https://data.mendeley.com/datasets/tywbtsjrjv</a:t>
            </a:r>
            <a:br>
              <a:rPr lang="en-IN" sz="2800" b="1" dirty="0"/>
            </a:br>
            <a:r>
              <a:rPr lang="en-IN" sz="2800" dirty="0"/>
              <a:t>2</a:t>
            </a:r>
            <a:r>
              <a:rPr lang="en-IN" sz="2800" b="1" dirty="0"/>
              <a:t>. </a:t>
            </a:r>
            <a:r>
              <a:rPr lang="en-IN" sz="2700" dirty="0"/>
              <a:t>TensorFlow Official Documentation</a:t>
            </a:r>
            <a:br>
              <a:rPr lang="en-IN" sz="2700" dirty="0"/>
            </a:br>
            <a:r>
              <a:rPr lang="en-IN" sz="2700" dirty="0"/>
              <a:t>    </a:t>
            </a:r>
            <a:r>
              <a:rPr lang="en-IN" sz="2700" dirty="0">
                <a:hlinkClick r:id="rId3"/>
              </a:rPr>
              <a:t>https://www.tensorflow.org/</a:t>
            </a:r>
            <a:r>
              <a:rPr lang="en-IN" sz="2700" dirty="0"/>
              <a:t> </a:t>
            </a:r>
            <a:br>
              <a:rPr lang="en-IN" sz="2700" dirty="0"/>
            </a:br>
            <a:r>
              <a:rPr lang="en-IN" sz="2700" dirty="0"/>
              <a:t>3. Keras Documentation</a:t>
            </a:r>
            <a:br>
              <a:rPr lang="en-IN" sz="2700" dirty="0"/>
            </a:br>
            <a:r>
              <a:rPr lang="en-IN" sz="2700" dirty="0"/>
              <a:t>    </a:t>
            </a:r>
            <a:r>
              <a:rPr lang="en-IN" sz="2700" dirty="0">
                <a:hlinkClick r:id="rId4"/>
              </a:rPr>
              <a:t>https://keras.io/</a:t>
            </a:r>
            <a:r>
              <a:rPr lang="en-IN" sz="2700" dirty="0"/>
              <a:t> </a:t>
            </a:r>
            <a:br>
              <a:rPr lang="en-IN" sz="2700" dirty="0"/>
            </a:br>
            <a:r>
              <a:rPr lang="en-IN" sz="2700" dirty="0"/>
              <a:t>4. Flask Documentation</a:t>
            </a:r>
            <a:br>
              <a:rPr lang="en-IN" sz="2700" dirty="0"/>
            </a:br>
            <a:r>
              <a:rPr lang="en-IN" sz="2700" dirty="0"/>
              <a:t>    </a:t>
            </a:r>
            <a:r>
              <a:rPr lang="en-IN" sz="2700" dirty="0">
                <a:hlinkClick r:id="rId5"/>
              </a:rPr>
              <a:t>https://flask.palletsprojects.com/</a:t>
            </a:r>
            <a:r>
              <a:rPr lang="en-IN" sz="2700" dirty="0"/>
              <a:t> </a:t>
            </a:r>
            <a:br>
              <a:rPr lang="en-IN" sz="2700" dirty="0"/>
            </a:br>
            <a:r>
              <a:rPr lang="en-IN" sz="2700" dirty="0"/>
              <a:t>5. NumPy Documentation</a:t>
            </a:r>
            <a:br>
              <a:rPr lang="en-IN" sz="2700" dirty="0"/>
            </a:br>
            <a:r>
              <a:rPr lang="en-IN" sz="2700" dirty="0"/>
              <a:t>    </a:t>
            </a:r>
            <a:r>
              <a:rPr lang="en-IN" sz="2700" dirty="0">
                <a:hlinkClick r:id="rId6"/>
              </a:rPr>
              <a:t>https://numpy.org/</a:t>
            </a:r>
            <a:r>
              <a:rPr lang="en-IN" sz="2700" dirty="0"/>
              <a:t> </a:t>
            </a:r>
            <a:br>
              <a:rPr lang="en-IN" sz="2700" dirty="0"/>
            </a:br>
            <a:r>
              <a:rPr lang="en-IN" sz="2700" dirty="0"/>
              <a:t>6. OpenCV Documentation</a:t>
            </a:r>
            <a:br>
              <a:rPr lang="en-IN" sz="2700" dirty="0"/>
            </a:br>
            <a:r>
              <a:rPr lang="en-IN" sz="2700" dirty="0"/>
              <a:t>    </a:t>
            </a:r>
            <a:r>
              <a:rPr lang="en-IN" sz="2700" dirty="0">
                <a:hlinkClick r:id="rId7"/>
              </a:rPr>
              <a:t>https://opencv.org/</a:t>
            </a:r>
            <a:r>
              <a:rPr lang="en-IN" sz="2700" dirty="0"/>
              <a:t> </a:t>
            </a:r>
            <a:br>
              <a:rPr lang="en-IN" sz="2700" dirty="0"/>
            </a:br>
            <a:endParaRPr lang="en-IN" sz="27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29426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0117992-C174-32B1-EA3B-2417E1F747B8}"/>
              </a:ext>
            </a:extLst>
          </p:cNvPr>
          <p:cNvSpPr>
            <a:spLocks noGrp="1"/>
          </p:cNvSpPr>
          <p:nvPr>
            <p:ph type="title"/>
          </p:nvPr>
        </p:nvSpPr>
        <p:spPr/>
        <p:txBody>
          <a:bodyPr/>
          <a:lstStyle/>
          <a:p>
            <a:pPr marL="571500" indent="-571500">
              <a:buFont typeface="Wingdings" panose="05000000000000000000" pitchFamily="2" charset="2"/>
              <a:buChar char="v"/>
            </a:pPr>
            <a:r>
              <a:rPr lang="en-IN" b="1" dirty="0">
                <a:latin typeface="Segoe UI" panose="020B0502040204020203" pitchFamily="34" charset="0"/>
                <a:ea typeface="Calibri" panose="020F0502020204030204" pitchFamily="34" charset="0"/>
                <a:cs typeface="Segoe UI" panose="020B0502040204020203" pitchFamily="34" charset="0"/>
              </a:rPr>
              <a:t>Conclusion :</a:t>
            </a:r>
          </a:p>
        </p:txBody>
      </p:sp>
      <p:sp>
        <p:nvSpPr>
          <p:cNvPr id="6" name="TextBox 5">
            <a:extLst>
              <a:ext uri="{FF2B5EF4-FFF2-40B4-BE49-F238E27FC236}">
                <a16:creationId xmlns:a16="http://schemas.microsoft.com/office/drawing/2014/main" id="{2B32810E-2592-5035-33BC-CB4B8D747AE1}"/>
              </a:ext>
            </a:extLst>
          </p:cNvPr>
          <p:cNvSpPr txBox="1"/>
          <p:nvPr/>
        </p:nvSpPr>
        <p:spPr>
          <a:xfrm>
            <a:off x="1770781" y="1825859"/>
            <a:ext cx="8321879" cy="3693319"/>
          </a:xfrm>
          <a:prstGeom prst="rect">
            <a:avLst/>
          </a:prstGeom>
          <a:noFill/>
        </p:spPr>
        <p:txBody>
          <a:bodyPr wrap="square" rtlCol="0">
            <a:spAutoFit/>
          </a:bodyPr>
          <a:lstStyle/>
          <a:p>
            <a:pPr marL="342900" indent="-342900">
              <a:buFont typeface="Wingdings" panose="05000000000000000000" pitchFamily="2" charset="2"/>
              <a:buChar char="q"/>
            </a:pPr>
            <a:r>
              <a:rPr lang="en-US" sz="2600" dirty="0">
                <a:latin typeface="Calibri" panose="020F0502020204030204" pitchFamily="34" charset="0"/>
                <a:ea typeface="Calibri" panose="020F0502020204030204" pitchFamily="34" charset="0"/>
                <a:cs typeface="Calibri" panose="020F0502020204030204" pitchFamily="34" charset="0"/>
              </a:rPr>
              <a:t>In conclusion, this project demonstrates how Artificial Intelligence can be effectively applied in agriculture for plant disease detection. By leveraging transfer learning and a large dataset, we achieved high classification accuracy. </a:t>
            </a:r>
          </a:p>
          <a:p>
            <a:endParaRPr lang="en-US" sz="26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q"/>
            </a:pPr>
            <a:r>
              <a:rPr lang="en-US" sz="2600" dirty="0">
                <a:latin typeface="Calibri" panose="020F0502020204030204" pitchFamily="34" charset="0"/>
                <a:ea typeface="Calibri" panose="020F0502020204030204" pitchFamily="34" charset="0"/>
                <a:cs typeface="Calibri" panose="020F0502020204030204" pitchFamily="34" charset="0"/>
              </a:rPr>
              <a:t>The system is scalable, practical, and capable of supporting farmers in early disease diagnosis, ultimately contributing to improved agricultural productivity.</a:t>
            </a:r>
            <a:endParaRPr lang="en-IN" sz="2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128747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{98737647-E438-4F14-AFD4-D07816B6CA13}TF6d5feb1e-e145-43f1-b745-cb4b54c5ee975d365c52-ce22229b0e48</Template>
  <TotalTime>478</TotalTime>
  <Words>644</Words>
  <Application>Microsoft Office PowerPoint</Application>
  <PresentationFormat>Widescreen</PresentationFormat>
  <Paragraphs>84</Paragraphs>
  <Slides>12</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vt:lpstr>
      <vt:lpstr>Arial</vt:lpstr>
      <vt:lpstr>Calibri</vt:lpstr>
      <vt:lpstr>Montserrat</vt:lpstr>
      <vt:lpstr>Segoe UI</vt:lpstr>
      <vt:lpstr>Tw Cen MT</vt:lpstr>
      <vt:lpstr>Wingdings</vt:lpstr>
      <vt:lpstr>Circuit</vt:lpstr>
      <vt:lpstr>Project Title : ML-Based Crop     Health Detection Using CNN</vt:lpstr>
      <vt:lpstr>Agenda :</vt:lpstr>
      <vt:lpstr>Introduction</vt:lpstr>
      <vt:lpstr>Problem Statement </vt:lpstr>
      <vt:lpstr>Objective :</vt:lpstr>
      <vt:lpstr>Methodology/Workflow :</vt:lpstr>
      <vt:lpstr>Technical Stack (Technology) :</vt:lpstr>
      <vt:lpstr>training accuracy and validation loss :</vt:lpstr>
      <vt:lpstr>Result :</vt:lpstr>
      <vt:lpstr>BENEFITS : </vt:lpstr>
      <vt:lpstr>References :  1. Dataset Used Source: Mendeley Data      https://data.mendeley.com/datasets/tywbtsjrjv 2. TensorFlow Official Documentation     https://www.tensorflow.org/  3. Keras Documentation     https://keras.io/  4. Flask Documentation     https://flask.palletsprojects.com/  5. NumPy Documentation     https://numpy.org/  6. OpenCV Documentation     https://opencv.org/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NARAYAN KISHOR ADHUDE</dc:creator>
  <cp:lastModifiedBy>NARAYAN KISHOR ADHUDE</cp:lastModifiedBy>
  <cp:revision>15</cp:revision>
  <dcterms:created xsi:type="dcterms:W3CDTF">2026-02-20T14:01:05Z</dcterms:created>
  <dcterms:modified xsi:type="dcterms:W3CDTF">2026-04-07T17:51:44Z</dcterms:modified>
</cp:coreProperties>
</file>